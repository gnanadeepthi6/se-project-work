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66" r:id="rId4"/>
    <p:sldId id="267" r:id="rId5"/>
    <p:sldId id="268" r:id="rId6"/>
    <p:sldId id="258" r:id="rId7"/>
    <p:sldId id="259" r:id="rId8"/>
    <p:sldId id="260" r:id="rId9"/>
    <p:sldId id="261" r:id="rId10"/>
    <p:sldId id="263" r:id="rId11"/>
    <p:sldId id="265"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and Project Overview" id="{703C706D-0F90-627D-2E00-E290D99EE147}">
          <p14:sldIdLst>
            <p14:sldId id="256"/>
          </p14:sldIdLst>
        </p14:section>
        <p14:section name="Problem Definition and Requirements Analysis" id="{0B84C4F4-8DB9-3762-285F-26FA270A53EA}">
          <p14:sldIdLst>
            <p14:sldId id="257"/>
            <p14:sldId id="266"/>
            <p14:sldId id="267"/>
            <p14:sldId id="268"/>
          </p14:sldIdLst>
        </p14:section>
        <p14:section name="SDLC and Software Process Model Selection" id="{E9BE245D-8FE4-C720-053E-EF140F450FC4}">
          <p14:sldIdLst>
            <p14:sldId id="258"/>
          </p14:sldIdLst>
        </p14:section>
        <p14:section name="Feasibility Study and Risk Analysis" id="{9364104F-994F-9F87-9B2C-AE262AAFFF2F}">
          <p14:sldIdLst>
            <p14:sldId id="259"/>
          </p14:sldIdLst>
        </p14:section>
        <p14:section name="Proposed System Architecture and Design" id="{C7E408CF-06AD-0F8C-1FED-15BFD6A72028}">
          <p14:sldIdLst>
            <p14:sldId id="260"/>
          </p14:sldIdLst>
        </p14:section>
        <p14:section name="Agile Methodology and Scrum Framework" id="{C69E809F-D77B-5828-6E04-3CAD33C317A5}">
          <p14:sldIdLst>
            <p14:sldId id="261"/>
          </p14:sldIdLst>
        </p14:section>
        <p14:section name="Software Quality, Testing and Validation" id="{41734551-CBA5-BA6C-FD5F-49F30A814DA7}">
          <p14:sldIdLst/>
        </p14:section>
        <p14:section name="Ethics, Security and User-Centred Design" id="{DFD0D511-54F8-DC78-5736-1CCF47706918}">
          <p14:sldIdLst>
            <p14:sldId id="263"/>
          </p14:sldIdLst>
        </p14:section>
        <p14:section name="Trello Project Management Demonstration" id="{8294A473-4EAD-3E9C-0B20-B5B5D2DD12B9}">
          <p14:sldIdLst/>
        </p14:section>
        <p14:section name="Conclusion and References" id="{C027EA5A-184A-1655-B4C6-E7353396C62F}">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6827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SIH26042 and state the scope of the exercise: this is a software engineering case study and planning exercise, so the system is only proposed. Summarise the idea in one breath: a teacher-facing assistant that translates text and speech into Ho, Mundari or Santhali, builds bilingual materials, and works offline. The sub-3-second latency is a design requirement, not a measured result.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problem and motivation, then the objectives and scope boundaries. Stakeholder needs come from elicitation (interviews, observation) and are analysed into functional requirements, which describe what the system does, and non-functional requirements, which describe quality attributes. Together these would form the SRS. The latency figure is a proposed requirement, still to be validated.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79073-7BB8-661D-37A1-6CB0D29BD2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3BCED5-930E-5C41-9EF4-D74C4B9C57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1656AD-0361-8B20-8F4A-6C359D448B24}"/>
              </a:ext>
            </a:extLst>
          </p:cNvPr>
          <p:cNvSpPr>
            <a:spLocks noGrp="1"/>
          </p:cNvSpPr>
          <p:nvPr>
            <p:ph type="body" idx="1"/>
          </p:nvPr>
        </p:nvSpPr>
        <p:spPr/>
        <p:txBody>
          <a:bodyPr/>
          <a:lstStyle/>
          <a:p>
            <a:r>
              <a:rPr lang="en-US" dirty="0"/>
              <a:t>Start with the problem and motivation, then the objectives and scope boundaries. Stakeholder needs come from elicitation (interviews, observation) and are analysed into functional requirements, which describe what the system does, and non-functional requirements, which describe quality attributes. Together these would form the SRS. The latency figure is a proposed requirement, still to be validated.</a:t>
            </a:r>
          </a:p>
        </p:txBody>
      </p:sp>
      <p:sp>
        <p:nvSpPr>
          <p:cNvPr id="4" name="Slide Number Placeholder 3">
            <a:extLst>
              <a:ext uri="{FF2B5EF4-FFF2-40B4-BE49-F238E27FC236}">
                <a16:creationId xmlns:a16="http://schemas.microsoft.com/office/drawing/2014/main" id="{D57BF0FE-A7E4-E826-2CC3-D18F7FF6FC6C}"/>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194173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779AA-662D-F07E-6486-EE72B90143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ACD725-07AD-4263-398E-319F768254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696A42-07B4-C934-5976-FEF7E34BF56F}"/>
              </a:ext>
            </a:extLst>
          </p:cNvPr>
          <p:cNvSpPr>
            <a:spLocks noGrp="1"/>
          </p:cNvSpPr>
          <p:nvPr>
            <p:ph type="body" idx="1"/>
          </p:nvPr>
        </p:nvSpPr>
        <p:spPr/>
        <p:txBody>
          <a:bodyPr/>
          <a:lstStyle/>
          <a:p>
            <a:r>
              <a:rPr lang="en-US" dirty="0"/>
              <a:t>Start with the problem and motivation, then the objectives and scope boundaries. Stakeholder needs come from elicitation (interviews, observation) and are analysed into functional requirements, which describe what the system does, and non-functional requirements, which describe quality attributes. Together these would form the SRS. The latency figure is a proposed requirement, still to be validated.</a:t>
            </a:r>
          </a:p>
        </p:txBody>
      </p:sp>
      <p:sp>
        <p:nvSpPr>
          <p:cNvPr id="4" name="Slide Number Placeholder 3">
            <a:extLst>
              <a:ext uri="{FF2B5EF4-FFF2-40B4-BE49-F238E27FC236}">
                <a16:creationId xmlns:a16="http://schemas.microsoft.com/office/drawing/2014/main" id="{96D87C54-3FD0-9A60-12B4-31EF05A8B699}"/>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1725264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DD072-2322-A8A2-C4D6-A0900F6CF6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E22D70-E78B-426A-6928-FDB4524798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607B32-72D0-9919-0A95-E9673651789B}"/>
              </a:ext>
            </a:extLst>
          </p:cNvPr>
          <p:cNvSpPr>
            <a:spLocks noGrp="1"/>
          </p:cNvSpPr>
          <p:nvPr>
            <p:ph type="body" idx="1"/>
          </p:nvPr>
        </p:nvSpPr>
        <p:spPr/>
        <p:txBody>
          <a:bodyPr/>
          <a:lstStyle/>
          <a:p>
            <a:r>
              <a:rPr lang="en-US" dirty="0"/>
              <a:t>Start with the problem and motivation, then the objectives and scope boundaries. Stakeholder needs come from elicitation (interviews, observation) and are analysed into functional requirements, which describe what the system does, and non-functional requirements, which describe quality attributes. Together these would form the SRS. The latency figure is a proposed requirement, still to be validated.</a:t>
            </a:r>
          </a:p>
        </p:txBody>
      </p:sp>
      <p:sp>
        <p:nvSpPr>
          <p:cNvPr id="4" name="Slide Number Placeholder 3">
            <a:extLst>
              <a:ext uri="{FF2B5EF4-FFF2-40B4-BE49-F238E27FC236}">
                <a16:creationId xmlns:a16="http://schemas.microsoft.com/office/drawing/2014/main" id="{BBFEDCD6-E9D8-C00C-0CBB-439B1B63B9E5}"/>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814203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SDLC stages are generic: planning and feasibility, requirements analysis, system design, implementation, testing, deployment and maintenance. Waterfall runs them once in sequence, which suits fixed requirements. Agile repeats the stages in short iterations with feedback. This project has uncertain requirements and needs repeated refinement of translation quality, so an iterative Agile approach is proposed. Be clear that the SDLC is the overall lifecycle, while Agile Scrum is the selected development approach inside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has three dimensions. Technical: can AI translation and speech processing work for these low-resource languages, offline, on low-cost Android devices? Operational: will teachers be able and willing to use it, and what training and language validation are needed? Economic: development, maintenance, devices and deployment all cost money, but no estimates are given here because they require a survey. The risk table links each major risk to a mitigation. None of this proves feasibility; Sprints 1 and 2 would investigate the assumptions.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diagram top to bottom. The teacher uses the interface to enter text or speech. Input processing converts speech to text. The translation module produces target-language text. An optional generation step builds bilingual worksheets and flashcards. The output stage shows text, plays audio and presents materials. Offline content storage holds language packs, cached models and generated content on the tablet, and the synchronisation component updates content from a server only when connectivity is available. This is a component and data-flow model; the independent modules illustrate modularity, and the teacher-first interface reflects user-centred design. It is a proposal, not an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Agile is proposed because translation quality must be refined repeatedly and requirements will change with feedback. Scrum has three accountabilities: the Product Owner orders the product backlog, the Scrum Master helps the team follow Scrum, and the Developers build and test each increment. In a sprint, planning selects backlog items into the sprint backlog, the Developers hold a Daily Scrum, then the sprint review inspects the increment with stakeholders and the retrospective improves the process. The four sprints are a proposed plan, and the first two focus on analysis and design, not coding. No sprint has been run.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pairs each ethical or security concern with a risk and a proposed mitigation. Children's data and voice recordings are the most sensitive, so the design uses data minimisation, on-device processing and consent. Bias and cultural sensitivity are addressed with native-speaker review and community co-design. The design thinking row shows how user feedback would improve the system: empathise with teachers and students, define needs, ideate, prototype and test, repeating at each sprint review.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in order: the problem, the proposed system, the selected SDLC approach (iterative Agile inside the seven SDLC stages), and how Scrum and Trello organise the work, then feasibility, quality, ethics and risk. Explain that the case study demonstrates Unit 1 by applying requirements engineering, process model selection, feasibility analysis, modelling, Agile Scrum, quality assurance and ethics to one problem. Before submission, check each reference against its source, in particular the SIH26042 problem statement entry, because I could not open the official portal.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417320"/>
            <a:ext cx="10881360" cy="173736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881360" cy="73152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777240"/>
            <a:ext cx="10881360" cy="457200"/>
          </a:xfrm>
          <a:prstGeom prst="rect">
            <a:avLst/>
          </a:prstGeom>
          <a:noFill/>
          <a:ln/>
        </p:spPr>
        <p:txBody>
          <a:bodyPr wrap="square" lIns="0" tIns="0" rIns="0" bIns="0" rtlCol="0" anchor="ctr"/>
          <a:lstStyle/>
          <a:p>
            <a:pPr marL="0" indent="0">
              <a:buNone/>
            </a:pPr>
            <a:r>
              <a:rPr lang="en-US" sz="1800" b="1" dirty="0">
                <a:solidFill>
                  <a:schemeClr val="accent2"/>
                </a:solidFill>
              </a:rPr>
              <a:t>|  Software Engineering </a:t>
            </a:r>
            <a:endParaRPr lang="en-US" sz="1800" dirty="0"/>
          </a:p>
        </p:txBody>
      </p:sp>
      <p:sp>
        <p:nvSpPr>
          <p:cNvPr id="3" name="Text 0"/>
          <p:cNvSpPr>
            <a:spLocks noGrp="1"/>
          </p:cNvSpPr>
          <p:nvPr>
            <p:ph type="title" idx="100" hasCustomPrompt="1"/>
          </p:nvPr>
        </p:nvSpPr>
        <p:spPr>
          <a:xfrm>
            <a:off x="640080" y="1417320"/>
            <a:ext cx="10881360" cy="1737360"/>
          </a:xfrm>
          <a:prstGeom prst="rect">
            <a:avLst/>
          </a:prstGeom>
          <a:noFill/>
          <a:ln/>
        </p:spPr>
        <p:txBody>
          <a:bodyPr wrap="square" lIns="0" tIns="0" rIns="0" bIns="0" rtlCol="0" anchor="t"/>
          <a:lstStyle/>
          <a:p>
            <a:r>
              <a:rPr lang="en-US" dirty="0">
                <a:solidFill>
                  <a:schemeClr val="accent2"/>
                </a:solidFill>
              </a:rPr>
              <a:t>SIH26042 </a:t>
            </a:r>
            <a:r>
              <a:rPr lang="en-US" sz="3600" b="1" dirty="0">
                <a:solidFill>
                  <a:schemeClr val="bg1"/>
                </a:solidFill>
              </a:rPr>
              <a:t>AI-Powered Vernacular Pedagogy and Real-Time Translation Tool for Mother Tongue-Based Primary Education</a:t>
            </a:r>
            <a:endParaRPr lang="en-US" sz="3600" dirty="0"/>
          </a:p>
        </p:txBody>
      </p:sp>
      <p:sp>
        <p:nvSpPr>
          <p:cNvPr id="4" name="Text 2"/>
          <p:cNvSpPr txBox="1"/>
          <p:nvPr/>
        </p:nvSpPr>
        <p:spPr>
          <a:xfrm>
            <a:off x="640080" y="3246120"/>
            <a:ext cx="10515600" cy="1005840"/>
          </a:xfrm>
          <a:prstGeom prst="rect">
            <a:avLst/>
          </a:prstGeom>
          <a:noFill/>
          <a:ln/>
        </p:spPr>
        <p:txBody>
          <a:bodyPr wrap="square" lIns="0" tIns="0" rIns="0" bIns="0" rtlCol="0" anchor="t"/>
          <a:lstStyle/>
          <a:p>
            <a:pPr marL="0" indent="0">
              <a:buNone/>
            </a:pPr>
            <a:endParaRPr lang="en-US" sz="1600" dirty="0"/>
          </a:p>
        </p:txBody>
      </p:sp>
      <p:sp>
        <p:nvSpPr>
          <p:cNvPr id="7" name="Text 4"/>
          <p:cNvSpPr txBox="1"/>
          <p:nvPr/>
        </p:nvSpPr>
        <p:spPr>
          <a:xfrm>
            <a:off x="1325880" y="4526280"/>
            <a:ext cx="2834640" cy="548640"/>
          </a:xfrm>
          <a:prstGeom prst="rect">
            <a:avLst/>
          </a:prstGeom>
          <a:noFill/>
          <a:ln/>
        </p:spPr>
        <p:txBody>
          <a:bodyPr wrap="square" lIns="0" tIns="0" rIns="0" bIns="0" rtlCol="0" anchor="ctr"/>
          <a:lstStyle/>
          <a:p>
            <a:pPr marL="0" indent="0">
              <a:buNone/>
            </a:pPr>
            <a:endParaRPr lang="en-US" sz="1600" dirty="0"/>
          </a:p>
        </p:txBody>
      </p:sp>
      <p:sp>
        <p:nvSpPr>
          <p:cNvPr id="13" name="Text 8"/>
          <p:cNvSpPr txBox="1"/>
          <p:nvPr/>
        </p:nvSpPr>
        <p:spPr>
          <a:xfrm>
            <a:off x="9555480" y="5394960"/>
            <a:ext cx="2834640" cy="548640"/>
          </a:xfrm>
          <a:prstGeom prst="rect">
            <a:avLst/>
          </a:prstGeom>
          <a:noFill/>
          <a:ln/>
        </p:spPr>
        <p:txBody>
          <a:bodyPr wrap="square" lIns="0" tIns="0" rIns="0" bIns="0" rtlCol="0" anchor="ctr"/>
          <a:lstStyle/>
          <a:p>
            <a:pPr marL="0" indent="0">
              <a:buNone/>
            </a:pPr>
            <a:r>
              <a:rPr lang="en-US" sz="2400" dirty="0">
                <a:solidFill>
                  <a:schemeClr val="bg1"/>
                </a:solidFill>
              </a:rPr>
              <a:t>Presented by:</a:t>
            </a:r>
          </a:p>
          <a:p>
            <a:pPr marL="0" indent="0">
              <a:buNone/>
            </a:pPr>
            <a:r>
              <a:rPr lang="en-US" sz="2400" dirty="0">
                <a:solidFill>
                  <a:schemeClr val="bg1"/>
                </a:solidFill>
              </a:rPr>
              <a:t>R . Sweta </a:t>
            </a:r>
            <a:br>
              <a:rPr lang="en-US" sz="2400" dirty="0">
                <a:solidFill>
                  <a:schemeClr val="bg1"/>
                </a:solidFill>
              </a:rPr>
            </a:br>
            <a:r>
              <a:rPr lang="en-US" sz="2400" dirty="0">
                <a:solidFill>
                  <a:schemeClr val="bg1"/>
                </a:solidFill>
              </a:rPr>
              <a:t>192511408</a:t>
            </a:r>
            <a:endParaRPr lang="en-US" sz="2400" dirty="0"/>
          </a:p>
        </p:txBody>
      </p:sp>
      <p:sp>
        <p:nvSpPr>
          <p:cNvPr id="14" name="Text 9"/>
          <p:cNvSpPr txBox="1"/>
          <p:nvPr/>
        </p:nvSpPr>
        <p:spPr>
          <a:xfrm>
            <a:off x="640080" y="5669280"/>
            <a:ext cx="10332720" cy="548640"/>
          </a:xfrm>
          <a:prstGeom prst="rect">
            <a:avLst/>
          </a:prstGeom>
          <a:noFill/>
          <a:ln/>
        </p:spPr>
        <p:txBody>
          <a:bodyPr wrap="square" lIns="0" tIns="0" rIns="0" bIns="0" rtlCol="0" anchor="ctr"/>
          <a:lstStyle/>
          <a:p>
            <a:pPr marL="0" indent="0">
              <a:buNone/>
            </a:pPr>
            <a:r>
              <a:rPr lang="en-US" sz="1400" i="1" dirty="0">
                <a:solidFill>
                  <a:schemeClr val="bg2"/>
                </a:solidFill>
              </a:rPr>
              <a: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881360" cy="731520"/>
          </a:xfrm>
          <a:prstGeom prst="rect">
            <a:avLst/>
          </a:prstGeom>
          <a:noFill/>
          <a:ln/>
        </p:spPr>
        <p:txBody>
          <a:bodyPr wrap="square" lIns="0" tIns="0" rIns="0" bIns="0" rtlCol="0" anchor="ctr"/>
          <a:lstStyle/>
          <a:p>
            <a:pPr marL="0" indent="0" algn="l">
              <a:buNone/>
            </a:pPr>
            <a:r>
              <a:rPr lang="en-US" sz="3000" b="1" dirty="0">
                <a:solidFill>
                  <a:schemeClr val="tx2"/>
                </a:solidFill>
              </a:rPr>
              <a:t>Problem Definition and Requirements Analysis</a:t>
            </a:r>
            <a:endParaRPr lang="en-US" sz="3000" dirty="0"/>
          </a:p>
        </p:txBody>
      </p:sp>
      <p:sp>
        <p:nvSpPr>
          <p:cNvPr id="3" name="Card Problem and motivation"/>
          <p:cNvSpPr/>
          <p:nvPr/>
        </p:nvSpPr>
        <p:spPr>
          <a:xfrm>
            <a:off x="640079" y="1234440"/>
            <a:ext cx="11229867" cy="5257800"/>
          </a:xfrm>
          <a:prstGeom prst="roundRect">
            <a:avLst>
              <a:gd name="adj" fmla="val 3571"/>
            </a:avLst>
          </a:prstGeom>
          <a:solidFill>
            <a:schemeClr val="bg2"/>
          </a:solidFill>
          <a:ln w="12700">
            <a:solidFill>
              <a:schemeClr val="bg2"/>
            </a:solidFill>
            <a:prstDash val="solid"/>
          </a:ln>
        </p:spPr>
      </p:sp>
      <p:sp>
        <p:nvSpPr>
          <p:cNvPr id="4" name="Icon circle Problem and motivation"/>
          <p:cNvSpPr/>
          <p:nvPr/>
        </p:nvSpPr>
        <p:spPr>
          <a:xfrm>
            <a:off x="822960" y="1371600"/>
            <a:ext cx="411480" cy="411480"/>
          </a:xfrm>
          <a:prstGeom prst="ellipse">
            <a:avLst/>
          </a:prstGeom>
          <a:solidFill>
            <a:schemeClr val="accent4"/>
          </a:solidFill>
          <a:ln w="12700">
            <a:solidFill>
              <a:schemeClr val="accent4"/>
            </a:solidFill>
            <a:prstDash val="solid"/>
          </a:ln>
        </p:spPr>
      </p:sp>
      <p:pic>
        <p:nvPicPr>
          <p:cNvPr id="5" name="Image 0" descr="Problem and motivation"/>
          <p:cNvPicPr>
            <a:picLocks noChangeAspect="1"/>
          </p:cNvPicPr>
          <p:nvPr/>
        </p:nvPicPr>
        <p:blipFill>
          <a:blip r:embed="rId3"/>
          <a:stretch>
            <a:fillRect/>
          </a:stretch>
        </p:blipFill>
        <p:spPr>
          <a:xfrm>
            <a:off x="925830" y="1474470"/>
            <a:ext cx="205740" cy="205740"/>
          </a:xfrm>
          <a:prstGeom prst="rect">
            <a:avLst/>
          </a:prstGeom>
        </p:spPr>
      </p:pic>
      <p:sp>
        <p:nvSpPr>
          <p:cNvPr id="6" name="Text 3"/>
          <p:cNvSpPr txBox="1"/>
          <p:nvPr/>
        </p:nvSpPr>
        <p:spPr>
          <a:xfrm>
            <a:off x="1371600" y="1371600"/>
            <a:ext cx="2606040" cy="411480"/>
          </a:xfrm>
          <a:prstGeom prst="rect">
            <a:avLst/>
          </a:prstGeom>
          <a:noFill/>
          <a:ln/>
        </p:spPr>
        <p:txBody>
          <a:bodyPr wrap="square" lIns="0" tIns="0" rIns="0" bIns="0" rtlCol="0" anchor="ctr"/>
          <a:lstStyle/>
          <a:p>
            <a:pPr marL="0" indent="0">
              <a:buNone/>
            </a:pPr>
            <a:r>
              <a:rPr lang="en-US" sz="1800" b="1" dirty="0">
                <a:solidFill>
                  <a:schemeClr val="tx2"/>
                </a:solidFill>
              </a:rPr>
              <a:t>Problem and motivation</a:t>
            </a:r>
            <a:endParaRPr lang="en-US" sz="1800" dirty="0"/>
          </a:p>
        </p:txBody>
      </p:sp>
      <p:sp>
        <p:nvSpPr>
          <p:cNvPr id="7" name="Text 4"/>
          <p:cNvSpPr txBox="1"/>
          <p:nvPr/>
        </p:nvSpPr>
        <p:spPr>
          <a:xfrm>
            <a:off x="753948" y="2388870"/>
            <a:ext cx="10494897" cy="1783080"/>
          </a:xfrm>
          <a:prstGeom prst="rect">
            <a:avLst/>
          </a:prstGeom>
          <a:noFill/>
          <a:ln/>
        </p:spPr>
        <p:txBody>
          <a:bodyPr wrap="square" lIns="0" tIns="0" rIns="0" bIns="0" rtlCol="0" anchor="t"/>
          <a:lstStyle/>
          <a:p>
            <a:pPr marL="342900" indent="-342900">
              <a:spcAft>
                <a:spcPts val="600"/>
              </a:spcAft>
              <a:buSzPct val="100000"/>
              <a:buChar char="•"/>
            </a:pPr>
            <a:r>
              <a:rPr lang="en-US" sz="3200" dirty="0">
                <a:solidFill>
                  <a:schemeClr val="tx1"/>
                </a:solidFill>
              </a:rPr>
              <a:t>Teachers may not share the home language of Ho, Mundari or </a:t>
            </a:r>
            <a:r>
              <a:rPr lang="en-US" sz="3200" dirty="0" err="1">
                <a:solidFill>
                  <a:schemeClr val="tx1"/>
                </a:solidFill>
              </a:rPr>
              <a:t>Santhali</a:t>
            </a:r>
            <a:r>
              <a:rPr lang="en-US" sz="3200" dirty="0">
                <a:solidFill>
                  <a:schemeClr val="tx1"/>
                </a:solidFill>
              </a:rPr>
              <a:t> speakers</a:t>
            </a:r>
          </a:p>
          <a:p>
            <a:pPr marL="342900" indent="-342900">
              <a:spcAft>
                <a:spcPts val="600"/>
              </a:spcAft>
              <a:buSzPct val="100000"/>
              <a:buChar char="•"/>
            </a:pPr>
            <a:endParaRPr lang="en-US" sz="3200" dirty="0"/>
          </a:p>
          <a:p>
            <a:pPr marL="342900" indent="-342900">
              <a:spcAft>
                <a:spcPts val="600"/>
              </a:spcAft>
              <a:buSzPct val="100000"/>
              <a:buChar char="•"/>
            </a:pPr>
            <a:r>
              <a:rPr lang="en-US" sz="3200" dirty="0">
                <a:solidFill>
                  <a:schemeClr val="tx1"/>
                </a:solidFill>
              </a:rPr>
              <a:t>The barrier can limit early comprehension</a:t>
            </a:r>
          </a:p>
          <a:p>
            <a:pPr marL="342900" indent="-342900">
              <a:spcAft>
                <a:spcPts val="600"/>
              </a:spcAft>
              <a:buSzPct val="100000"/>
              <a:buChar char="•"/>
            </a:pPr>
            <a:endParaRPr lang="en-US" sz="3200" dirty="0"/>
          </a:p>
          <a:p>
            <a:pPr marL="342900" indent="-342900">
              <a:spcAft>
                <a:spcPts val="600"/>
              </a:spcAft>
              <a:buSzPct val="100000"/>
              <a:buChar char="•"/>
            </a:pPr>
            <a:r>
              <a:rPr lang="en-US" sz="3200" dirty="0">
                <a:solidFill>
                  <a:schemeClr val="tx1"/>
                </a:solidFill>
              </a:rPr>
              <a:t>NEP 2020 favours mother-tongue instruction in early grades</a:t>
            </a:r>
            <a:endParaRPr lang="en-US" sz="3200" dirty="0"/>
          </a:p>
        </p:txBody>
      </p:sp>
      <p:pic>
        <p:nvPicPr>
          <p:cNvPr id="15" name="Image 2" descr="Stakeholder requirements"/>
          <p:cNvPicPr>
            <a:picLocks noChangeAspect="1"/>
          </p:cNvPicPr>
          <p:nvPr/>
        </p:nvPicPr>
        <p:blipFill>
          <a:blip r:embed="rId4"/>
          <a:stretch>
            <a:fillRect/>
          </a:stretch>
        </p:blipFill>
        <p:spPr>
          <a:xfrm>
            <a:off x="8478774" y="1474470"/>
            <a:ext cx="205740" cy="205740"/>
          </a:xfrm>
          <a:prstGeom prst="rect">
            <a:avLst/>
          </a:prstGeom>
        </p:spPr>
      </p:pic>
      <p:pic>
        <p:nvPicPr>
          <p:cNvPr id="20" name="Image 3" descr="Functional requirements"/>
          <p:cNvPicPr>
            <a:picLocks noChangeAspect="1"/>
          </p:cNvPicPr>
          <p:nvPr/>
        </p:nvPicPr>
        <p:blipFill>
          <a:blip r:embed="rId5"/>
          <a:stretch>
            <a:fillRect/>
          </a:stretch>
        </p:blipFill>
        <p:spPr>
          <a:xfrm>
            <a:off x="925830" y="4171950"/>
            <a:ext cx="205740" cy="205740"/>
          </a:xfrm>
          <a:prstGeom prst="rect">
            <a:avLst/>
          </a:prstGeom>
        </p:spPr>
      </p:pic>
      <p:pic>
        <p:nvPicPr>
          <p:cNvPr id="25" name="Image 4" descr="Non-functional requirements"/>
          <p:cNvPicPr>
            <a:picLocks noChangeAspect="1"/>
          </p:cNvPicPr>
          <p:nvPr/>
        </p:nvPicPr>
        <p:blipFill>
          <a:blip r:embed="rId6"/>
          <a:stretch>
            <a:fillRect/>
          </a:stretch>
        </p:blipFill>
        <p:spPr>
          <a:xfrm>
            <a:off x="6439662" y="4171950"/>
            <a:ext cx="205740" cy="205740"/>
          </a:xfrm>
          <a:prstGeom prst="rect">
            <a:avLst/>
          </a:prstGeom>
        </p:spPr>
      </p:pic>
      <p:sp>
        <p:nvSpPr>
          <p:cNvPr id="29"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6D4B7-CA4C-433D-2536-A09913FE858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238ACAF-7EEF-D76D-34EE-9E59AA4629E4}"/>
              </a:ext>
            </a:extLst>
          </p:cNvPr>
          <p:cNvSpPr>
            <a:spLocks noGrp="1"/>
          </p:cNvSpPr>
          <p:nvPr>
            <p:ph type="title" idx="100" hasCustomPrompt="1"/>
          </p:nvPr>
        </p:nvSpPr>
        <p:spPr>
          <a:xfrm>
            <a:off x="1051560" y="373956"/>
            <a:ext cx="10881360" cy="731520"/>
          </a:xfrm>
          <a:prstGeom prst="rect">
            <a:avLst/>
          </a:prstGeom>
          <a:noFill/>
          <a:ln/>
        </p:spPr>
        <p:txBody>
          <a:bodyPr wrap="square" lIns="0" tIns="0" rIns="0" bIns="0" rtlCol="0" anchor="ctr"/>
          <a:lstStyle/>
          <a:p>
            <a:r>
              <a:rPr lang="en-US" sz="3200" dirty="0"/>
              <a:t>Objectives and scope</a:t>
            </a:r>
            <a:br>
              <a:rPr lang="en-US" sz="3200" dirty="0"/>
            </a:br>
            <a:endParaRPr lang="en-US" sz="3000" dirty="0"/>
          </a:p>
        </p:txBody>
      </p:sp>
      <p:sp>
        <p:nvSpPr>
          <p:cNvPr id="8" name="Card Objectives and scope">
            <a:extLst>
              <a:ext uri="{FF2B5EF4-FFF2-40B4-BE49-F238E27FC236}">
                <a16:creationId xmlns:a16="http://schemas.microsoft.com/office/drawing/2014/main" id="{FD094D19-F604-2C03-7267-30708D2D2078}"/>
              </a:ext>
            </a:extLst>
          </p:cNvPr>
          <p:cNvSpPr/>
          <p:nvPr/>
        </p:nvSpPr>
        <p:spPr>
          <a:xfrm>
            <a:off x="129395" y="1234440"/>
            <a:ext cx="11611155" cy="5166360"/>
          </a:xfrm>
          <a:prstGeom prst="roundRect">
            <a:avLst>
              <a:gd name="adj" fmla="val 3571"/>
            </a:avLst>
          </a:prstGeom>
          <a:solidFill>
            <a:schemeClr val="bg2"/>
          </a:solidFill>
          <a:ln w="12700">
            <a:solidFill>
              <a:schemeClr val="bg2"/>
            </a:solidFill>
            <a:prstDash val="solid"/>
          </a:ln>
        </p:spPr>
      </p:sp>
      <p:sp>
        <p:nvSpPr>
          <p:cNvPr id="9" name="Icon circle Objectives and scope">
            <a:extLst>
              <a:ext uri="{FF2B5EF4-FFF2-40B4-BE49-F238E27FC236}">
                <a16:creationId xmlns:a16="http://schemas.microsoft.com/office/drawing/2014/main" id="{985734A3-D118-E508-682F-E975FAE4AF5E}"/>
              </a:ext>
            </a:extLst>
          </p:cNvPr>
          <p:cNvSpPr/>
          <p:nvPr/>
        </p:nvSpPr>
        <p:spPr>
          <a:xfrm>
            <a:off x="259080" y="355193"/>
            <a:ext cx="411480" cy="411480"/>
          </a:xfrm>
          <a:prstGeom prst="ellipse">
            <a:avLst/>
          </a:prstGeom>
          <a:solidFill>
            <a:schemeClr val="accent1"/>
          </a:solidFill>
          <a:ln w="12700">
            <a:solidFill>
              <a:schemeClr val="accent1"/>
            </a:solidFill>
            <a:prstDash val="solid"/>
          </a:ln>
        </p:spPr>
      </p:sp>
      <p:pic>
        <p:nvPicPr>
          <p:cNvPr id="10" name="Image 1" descr="Objectives and scope">
            <a:extLst>
              <a:ext uri="{FF2B5EF4-FFF2-40B4-BE49-F238E27FC236}">
                <a16:creationId xmlns:a16="http://schemas.microsoft.com/office/drawing/2014/main" id="{91140E6F-6265-4D6F-206F-A90BF686267C}"/>
              </a:ext>
            </a:extLst>
          </p:cNvPr>
          <p:cNvPicPr>
            <a:picLocks noChangeAspect="1"/>
          </p:cNvPicPr>
          <p:nvPr/>
        </p:nvPicPr>
        <p:blipFill>
          <a:blip r:embed="rId3"/>
          <a:stretch>
            <a:fillRect/>
          </a:stretch>
        </p:blipFill>
        <p:spPr>
          <a:xfrm>
            <a:off x="361950" y="458063"/>
            <a:ext cx="205740" cy="205740"/>
          </a:xfrm>
          <a:prstGeom prst="rect">
            <a:avLst/>
          </a:prstGeom>
        </p:spPr>
      </p:pic>
      <p:sp>
        <p:nvSpPr>
          <p:cNvPr id="11" name="Text 7">
            <a:extLst>
              <a:ext uri="{FF2B5EF4-FFF2-40B4-BE49-F238E27FC236}">
                <a16:creationId xmlns:a16="http://schemas.microsoft.com/office/drawing/2014/main" id="{1455FB2A-3A47-033A-C080-A67EF4CFBB1B}"/>
              </a:ext>
            </a:extLst>
          </p:cNvPr>
          <p:cNvSpPr txBox="1"/>
          <p:nvPr/>
        </p:nvSpPr>
        <p:spPr>
          <a:xfrm>
            <a:off x="1035753" y="1472529"/>
            <a:ext cx="2606040" cy="411480"/>
          </a:xfrm>
          <a:prstGeom prst="rect">
            <a:avLst/>
          </a:prstGeom>
          <a:noFill/>
          <a:ln/>
        </p:spPr>
        <p:txBody>
          <a:bodyPr wrap="square" lIns="0" tIns="0" rIns="0" bIns="0" rtlCol="0" anchor="ctr"/>
          <a:lstStyle/>
          <a:p>
            <a:pPr marL="0" indent="0">
              <a:buNone/>
            </a:pPr>
            <a:endParaRPr lang="en-US" sz="1800" dirty="0"/>
          </a:p>
        </p:txBody>
      </p:sp>
      <p:sp>
        <p:nvSpPr>
          <p:cNvPr id="12" name="Text 8">
            <a:extLst>
              <a:ext uri="{FF2B5EF4-FFF2-40B4-BE49-F238E27FC236}">
                <a16:creationId xmlns:a16="http://schemas.microsoft.com/office/drawing/2014/main" id="{9839A8F9-8334-D9D7-3206-0C3351EEC449}"/>
              </a:ext>
            </a:extLst>
          </p:cNvPr>
          <p:cNvSpPr txBox="1"/>
          <p:nvPr/>
        </p:nvSpPr>
        <p:spPr>
          <a:xfrm>
            <a:off x="451450" y="2225615"/>
            <a:ext cx="9658708" cy="1783080"/>
          </a:xfrm>
          <a:prstGeom prst="rect">
            <a:avLst/>
          </a:prstGeom>
          <a:noFill/>
          <a:ln/>
        </p:spPr>
        <p:txBody>
          <a:bodyPr wrap="square" lIns="0" tIns="0" rIns="0" bIns="0" rtlCol="0" anchor="t"/>
          <a:lstStyle/>
          <a:p>
            <a:pPr marL="342900" indent="-342900">
              <a:spcAft>
                <a:spcPts val="600"/>
              </a:spcAft>
              <a:buSzPct val="100000"/>
              <a:buChar char="•"/>
            </a:pPr>
            <a:r>
              <a:rPr lang="en-US" sz="3200" dirty="0">
                <a:solidFill>
                  <a:schemeClr val="tx1"/>
                </a:solidFill>
              </a:rPr>
              <a:t>To Support translation and bilingual learning material</a:t>
            </a:r>
          </a:p>
          <a:p>
            <a:pPr marL="342900" indent="-342900">
              <a:spcAft>
                <a:spcPts val="600"/>
              </a:spcAft>
              <a:buSzPct val="100000"/>
              <a:buChar char="•"/>
            </a:pPr>
            <a:endParaRPr lang="en-US" sz="3200" dirty="0"/>
          </a:p>
          <a:p>
            <a:pPr marL="342900" indent="-342900">
              <a:spcAft>
                <a:spcPts val="600"/>
              </a:spcAft>
              <a:buSzPct val="100000"/>
              <a:buChar char="•"/>
            </a:pPr>
            <a:r>
              <a:rPr lang="en-US" sz="3200" dirty="0">
                <a:solidFill>
                  <a:schemeClr val="tx1"/>
                </a:solidFill>
              </a:rPr>
              <a:t>In scope: primary classrooms, three languages, Android tablets</a:t>
            </a:r>
          </a:p>
          <a:p>
            <a:pPr marL="342900" indent="-342900">
              <a:spcAft>
                <a:spcPts val="600"/>
              </a:spcAft>
              <a:buSzPct val="100000"/>
              <a:buChar char="•"/>
            </a:pPr>
            <a:endParaRPr lang="en-US" sz="3200" dirty="0"/>
          </a:p>
          <a:p>
            <a:pPr marL="342900" indent="-342900">
              <a:spcAft>
                <a:spcPts val="600"/>
              </a:spcAft>
              <a:buSzPct val="100000"/>
              <a:buChar char="•"/>
            </a:pPr>
            <a:r>
              <a:rPr lang="en-US" sz="3200" dirty="0">
                <a:solidFill>
                  <a:schemeClr val="tx1"/>
                </a:solidFill>
              </a:rPr>
              <a:t>Out of scope: curriculum authoring, replacing teachers</a:t>
            </a:r>
            <a:endParaRPr lang="en-US" sz="3200" dirty="0"/>
          </a:p>
        </p:txBody>
      </p:sp>
      <p:pic>
        <p:nvPicPr>
          <p:cNvPr id="15" name="Image 2" descr="Stakeholder requirements">
            <a:extLst>
              <a:ext uri="{FF2B5EF4-FFF2-40B4-BE49-F238E27FC236}">
                <a16:creationId xmlns:a16="http://schemas.microsoft.com/office/drawing/2014/main" id="{22402E2E-CD4A-787F-61A5-BEEDF44FB4E1}"/>
              </a:ext>
            </a:extLst>
          </p:cNvPr>
          <p:cNvPicPr>
            <a:picLocks noChangeAspect="1"/>
          </p:cNvPicPr>
          <p:nvPr/>
        </p:nvPicPr>
        <p:blipFill>
          <a:blip r:embed="rId4"/>
          <a:stretch>
            <a:fillRect/>
          </a:stretch>
        </p:blipFill>
        <p:spPr>
          <a:xfrm>
            <a:off x="8478774" y="1474470"/>
            <a:ext cx="205740" cy="205740"/>
          </a:xfrm>
          <a:prstGeom prst="rect">
            <a:avLst/>
          </a:prstGeom>
        </p:spPr>
      </p:pic>
      <p:sp>
        <p:nvSpPr>
          <p:cNvPr id="29" name="Slide Number Placeholder 0">
            <a:extLst>
              <a:ext uri="{FF2B5EF4-FFF2-40B4-BE49-F238E27FC236}">
                <a16:creationId xmlns:a16="http://schemas.microsoft.com/office/drawing/2014/main" id="{E6C8A92D-1AC1-E884-BD46-5AC6292ACB9E}"/>
              </a:ext>
            </a:extLst>
          </p:cNvPr>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3</a:t>
            </a:fld>
            <a:endParaRPr lang="en-US"/>
          </a:p>
        </p:txBody>
      </p:sp>
    </p:spTree>
    <p:extLst>
      <p:ext uri="{BB962C8B-B14F-4D97-AF65-F5344CB8AC3E}">
        <p14:creationId xmlns:p14="http://schemas.microsoft.com/office/powerpoint/2010/main" val="3981375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0ACB5-E946-B309-0E7B-263ECCB561A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B7B969A-C3F5-65A1-4B57-BB4D464E03B5}"/>
              </a:ext>
            </a:extLst>
          </p:cNvPr>
          <p:cNvSpPr>
            <a:spLocks noGrp="1"/>
          </p:cNvSpPr>
          <p:nvPr>
            <p:ph type="title" idx="100" hasCustomPrompt="1"/>
          </p:nvPr>
        </p:nvSpPr>
        <p:spPr>
          <a:xfrm>
            <a:off x="722084" y="773251"/>
            <a:ext cx="10881360" cy="731520"/>
          </a:xfrm>
          <a:prstGeom prst="rect">
            <a:avLst/>
          </a:prstGeom>
          <a:noFill/>
          <a:ln/>
        </p:spPr>
        <p:txBody>
          <a:bodyPr wrap="square" lIns="0" tIns="0" rIns="0" bIns="0" rtlCol="0" anchor="ctr"/>
          <a:lstStyle/>
          <a:p>
            <a:r>
              <a:rPr lang="en-US" sz="3200" dirty="0"/>
              <a:t>     Stakeholder requirements</a:t>
            </a:r>
            <a:br>
              <a:rPr lang="en-US" sz="3200" dirty="0"/>
            </a:br>
            <a:endParaRPr lang="en-US" sz="3000" dirty="0"/>
          </a:p>
        </p:txBody>
      </p:sp>
      <p:pic>
        <p:nvPicPr>
          <p:cNvPr id="5" name="Image 0" descr="Problem and motivation">
            <a:extLst>
              <a:ext uri="{FF2B5EF4-FFF2-40B4-BE49-F238E27FC236}">
                <a16:creationId xmlns:a16="http://schemas.microsoft.com/office/drawing/2014/main" id="{FBB4A8BE-7252-13F4-CE05-08739F344CBB}"/>
              </a:ext>
            </a:extLst>
          </p:cNvPr>
          <p:cNvPicPr>
            <a:picLocks noChangeAspect="1"/>
          </p:cNvPicPr>
          <p:nvPr/>
        </p:nvPicPr>
        <p:blipFill>
          <a:blip r:embed="rId3"/>
          <a:stretch>
            <a:fillRect/>
          </a:stretch>
        </p:blipFill>
        <p:spPr>
          <a:xfrm>
            <a:off x="925830" y="1474470"/>
            <a:ext cx="205740" cy="205740"/>
          </a:xfrm>
          <a:prstGeom prst="rect">
            <a:avLst/>
          </a:prstGeom>
        </p:spPr>
      </p:pic>
      <p:pic>
        <p:nvPicPr>
          <p:cNvPr id="10" name="Image 1" descr="Objectives and scope">
            <a:extLst>
              <a:ext uri="{FF2B5EF4-FFF2-40B4-BE49-F238E27FC236}">
                <a16:creationId xmlns:a16="http://schemas.microsoft.com/office/drawing/2014/main" id="{D5DC9F4B-8D30-C6B4-038A-352AF0B16458}"/>
              </a:ext>
            </a:extLst>
          </p:cNvPr>
          <p:cNvPicPr>
            <a:picLocks noChangeAspect="1"/>
          </p:cNvPicPr>
          <p:nvPr/>
        </p:nvPicPr>
        <p:blipFill>
          <a:blip r:embed="rId4"/>
          <a:stretch>
            <a:fillRect/>
          </a:stretch>
        </p:blipFill>
        <p:spPr>
          <a:xfrm>
            <a:off x="4702302" y="1474470"/>
            <a:ext cx="205740" cy="205740"/>
          </a:xfrm>
          <a:prstGeom prst="rect">
            <a:avLst/>
          </a:prstGeom>
        </p:spPr>
      </p:pic>
      <p:sp>
        <p:nvSpPr>
          <p:cNvPr id="13" name="Card Stakeholder requirements">
            <a:extLst>
              <a:ext uri="{FF2B5EF4-FFF2-40B4-BE49-F238E27FC236}">
                <a16:creationId xmlns:a16="http://schemas.microsoft.com/office/drawing/2014/main" id="{1CB770ED-13A6-A725-46D3-C6D335B387E6}"/>
              </a:ext>
            </a:extLst>
          </p:cNvPr>
          <p:cNvSpPr/>
          <p:nvPr/>
        </p:nvSpPr>
        <p:spPr>
          <a:xfrm>
            <a:off x="805166" y="2103120"/>
            <a:ext cx="10343007" cy="4394727"/>
          </a:xfrm>
          <a:prstGeom prst="roundRect">
            <a:avLst>
              <a:gd name="adj" fmla="val 3571"/>
            </a:avLst>
          </a:prstGeom>
          <a:solidFill>
            <a:schemeClr val="bg2"/>
          </a:solidFill>
          <a:ln w="12700">
            <a:solidFill>
              <a:schemeClr val="bg2"/>
            </a:solidFill>
            <a:prstDash val="solid"/>
          </a:ln>
        </p:spPr>
        <p:txBody>
          <a:bodyPr/>
          <a:lstStyle/>
          <a:p>
            <a:endParaRPr lang="en-IN" dirty="0"/>
          </a:p>
        </p:txBody>
      </p:sp>
      <p:sp>
        <p:nvSpPr>
          <p:cNvPr id="14" name="Icon circle Stakeholder requirements">
            <a:extLst>
              <a:ext uri="{FF2B5EF4-FFF2-40B4-BE49-F238E27FC236}">
                <a16:creationId xmlns:a16="http://schemas.microsoft.com/office/drawing/2014/main" id="{CAED7C5B-EA18-2F6C-BF9E-4B5EE1777435}"/>
              </a:ext>
            </a:extLst>
          </p:cNvPr>
          <p:cNvSpPr/>
          <p:nvPr/>
        </p:nvSpPr>
        <p:spPr>
          <a:xfrm>
            <a:off x="496556" y="761603"/>
            <a:ext cx="411480" cy="411480"/>
          </a:xfrm>
          <a:prstGeom prst="ellipse">
            <a:avLst/>
          </a:prstGeom>
          <a:solidFill>
            <a:schemeClr val="accent5"/>
          </a:solidFill>
          <a:ln w="12700">
            <a:solidFill>
              <a:schemeClr val="accent5"/>
            </a:solidFill>
            <a:prstDash val="solid"/>
          </a:ln>
        </p:spPr>
      </p:sp>
      <p:pic>
        <p:nvPicPr>
          <p:cNvPr id="15" name="Image 2" descr="Stakeholder requirements">
            <a:extLst>
              <a:ext uri="{FF2B5EF4-FFF2-40B4-BE49-F238E27FC236}">
                <a16:creationId xmlns:a16="http://schemas.microsoft.com/office/drawing/2014/main" id="{CA8F1D13-20FD-AF00-EFDF-12A8C6E68D66}"/>
              </a:ext>
            </a:extLst>
          </p:cNvPr>
          <p:cNvPicPr>
            <a:picLocks noChangeAspect="1"/>
          </p:cNvPicPr>
          <p:nvPr/>
        </p:nvPicPr>
        <p:blipFill>
          <a:blip r:embed="rId5"/>
          <a:stretch>
            <a:fillRect/>
          </a:stretch>
        </p:blipFill>
        <p:spPr>
          <a:xfrm>
            <a:off x="599426" y="864473"/>
            <a:ext cx="205740" cy="205740"/>
          </a:xfrm>
          <a:prstGeom prst="rect">
            <a:avLst/>
          </a:prstGeom>
        </p:spPr>
      </p:pic>
      <p:sp>
        <p:nvSpPr>
          <p:cNvPr id="16" name="Text 11">
            <a:extLst>
              <a:ext uri="{FF2B5EF4-FFF2-40B4-BE49-F238E27FC236}">
                <a16:creationId xmlns:a16="http://schemas.microsoft.com/office/drawing/2014/main" id="{8ADB1747-650B-22A8-F7A0-F92263AF1DA1}"/>
              </a:ext>
            </a:extLst>
          </p:cNvPr>
          <p:cNvSpPr txBox="1"/>
          <p:nvPr/>
        </p:nvSpPr>
        <p:spPr>
          <a:xfrm>
            <a:off x="8924544" y="1371600"/>
            <a:ext cx="2606040" cy="411480"/>
          </a:xfrm>
          <a:prstGeom prst="rect">
            <a:avLst/>
          </a:prstGeom>
          <a:noFill/>
          <a:ln/>
        </p:spPr>
        <p:txBody>
          <a:bodyPr wrap="square" lIns="0" tIns="0" rIns="0" bIns="0" rtlCol="0" anchor="ctr"/>
          <a:lstStyle/>
          <a:p>
            <a:pPr marL="0" indent="0">
              <a:buNone/>
            </a:pPr>
            <a:endParaRPr lang="en-US" sz="1800" dirty="0"/>
          </a:p>
        </p:txBody>
      </p:sp>
      <p:sp>
        <p:nvSpPr>
          <p:cNvPr id="17" name="Text 12">
            <a:extLst>
              <a:ext uri="{FF2B5EF4-FFF2-40B4-BE49-F238E27FC236}">
                <a16:creationId xmlns:a16="http://schemas.microsoft.com/office/drawing/2014/main" id="{58ADAEBC-184F-2A32-191C-3B46F558D7A3}"/>
              </a:ext>
            </a:extLst>
          </p:cNvPr>
          <p:cNvSpPr txBox="1"/>
          <p:nvPr/>
        </p:nvSpPr>
        <p:spPr>
          <a:xfrm>
            <a:off x="1028700" y="2426394"/>
            <a:ext cx="9226770" cy="2228204"/>
          </a:xfrm>
          <a:prstGeom prst="rect">
            <a:avLst/>
          </a:prstGeom>
          <a:noFill/>
          <a:ln/>
        </p:spPr>
        <p:txBody>
          <a:bodyPr wrap="square" lIns="0" tIns="0" rIns="0" bIns="0" rtlCol="0" anchor="t"/>
          <a:lstStyle/>
          <a:p>
            <a:pPr marL="0" indent="0">
              <a:spcAft>
                <a:spcPts val="600"/>
              </a:spcAft>
              <a:buNone/>
            </a:pPr>
            <a:r>
              <a:rPr lang="en-US" sz="3200" b="1" dirty="0">
                <a:solidFill>
                  <a:schemeClr val="tx2"/>
                </a:solidFill>
              </a:rPr>
              <a:t>Students: </a:t>
            </a:r>
            <a:r>
              <a:rPr lang="en-US" sz="3200" dirty="0">
                <a:solidFill>
                  <a:schemeClr val="tx1"/>
                </a:solidFill>
              </a:rPr>
              <a:t>familiar, child-friendly content</a:t>
            </a:r>
          </a:p>
          <a:p>
            <a:pPr marL="0" indent="0">
              <a:spcAft>
                <a:spcPts val="600"/>
              </a:spcAft>
              <a:buNone/>
            </a:pPr>
            <a:endParaRPr lang="en-US" sz="3200" dirty="0"/>
          </a:p>
          <a:p>
            <a:pPr marL="0" indent="0">
              <a:spcAft>
                <a:spcPts val="600"/>
              </a:spcAft>
              <a:buNone/>
            </a:pPr>
            <a:r>
              <a:rPr lang="en-US" sz="3200" b="1" dirty="0">
                <a:solidFill>
                  <a:schemeClr val="tx2"/>
                </a:solidFill>
              </a:rPr>
              <a:t>Teachers: </a:t>
            </a:r>
            <a:r>
              <a:rPr lang="en-US" sz="3200" dirty="0">
                <a:solidFill>
                  <a:schemeClr val="tx1"/>
                </a:solidFill>
              </a:rPr>
              <a:t>fast, simple, works offline</a:t>
            </a:r>
          </a:p>
          <a:p>
            <a:pPr marL="0" indent="0">
              <a:spcAft>
                <a:spcPts val="600"/>
              </a:spcAft>
              <a:buNone/>
            </a:pPr>
            <a:endParaRPr lang="en-US" sz="3200" dirty="0"/>
          </a:p>
          <a:p>
            <a:pPr marL="0" indent="0">
              <a:spcAft>
                <a:spcPts val="600"/>
              </a:spcAft>
              <a:buNone/>
            </a:pPr>
            <a:r>
              <a:rPr lang="en-US" sz="3200" b="1" dirty="0">
                <a:solidFill>
                  <a:schemeClr val="tx2"/>
                </a:solidFill>
              </a:rPr>
              <a:t>Language experts: </a:t>
            </a:r>
            <a:r>
              <a:rPr lang="en-US" sz="3200" dirty="0">
                <a:solidFill>
                  <a:schemeClr val="tx1"/>
                </a:solidFill>
              </a:rPr>
              <a:t>accurate, culturally sound review</a:t>
            </a:r>
          </a:p>
          <a:p>
            <a:pPr marL="0" indent="0">
              <a:spcAft>
                <a:spcPts val="600"/>
              </a:spcAft>
              <a:buNone/>
            </a:pPr>
            <a:endParaRPr lang="en-US" sz="3200" dirty="0"/>
          </a:p>
          <a:p>
            <a:pPr marL="0" indent="0">
              <a:spcAft>
                <a:spcPts val="600"/>
              </a:spcAft>
              <a:buNone/>
            </a:pPr>
            <a:r>
              <a:rPr lang="en-US" sz="3200" b="1" dirty="0">
                <a:solidFill>
                  <a:schemeClr val="tx2"/>
                </a:solidFill>
              </a:rPr>
              <a:t>Authorities: </a:t>
            </a:r>
            <a:r>
              <a:rPr lang="en-US" sz="3200" dirty="0">
                <a:solidFill>
                  <a:schemeClr val="tx1"/>
                </a:solidFill>
              </a:rPr>
              <a:t>affordable, privacy-compliant</a:t>
            </a:r>
            <a:endParaRPr lang="en-US" sz="3200" dirty="0"/>
          </a:p>
        </p:txBody>
      </p:sp>
      <p:sp>
        <p:nvSpPr>
          <p:cNvPr id="29" name="Slide Number Placeholder 0">
            <a:extLst>
              <a:ext uri="{FF2B5EF4-FFF2-40B4-BE49-F238E27FC236}">
                <a16:creationId xmlns:a16="http://schemas.microsoft.com/office/drawing/2014/main" id="{DCAB1605-B4B3-4E3F-91C7-157D35E77A8A}"/>
              </a:ext>
            </a:extLst>
          </p:cNvPr>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4</a:t>
            </a:fld>
            <a:endParaRPr lang="en-US"/>
          </a:p>
        </p:txBody>
      </p:sp>
    </p:spTree>
    <p:extLst>
      <p:ext uri="{BB962C8B-B14F-4D97-AF65-F5344CB8AC3E}">
        <p14:creationId xmlns:p14="http://schemas.microsoft.com/office/powerpoint/2010/main" val="3400452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68E7B-288F-A05E-A2AC-6DE1780A5A5C}"/>
            </a:ext>
          </a:extLst>
        </p:cNvPr>
        <p:cNvGrpSpPr/>
        <p:nvPr/>
      </p:nvGrpSpPr>
      <p:grpSpPr>
        <a:xfrm>
          <a:off x="0" y="0"/>
          <a:ext cx="0" cy="0"/>
          <a:chOff x="0" y="0"/>
          <a:chExt cx="0" cy="0"/>
        </a:xfrm>
      </p:grpSpPr>
      <p:pic>
        <p:nvPicPr>
          <p:cNvPr id="15" name="Image 2" descr="Stakeholder requirements">
            <a:extLst>
              <a:ext uri="{FF2B5EF4-FFF2-40B4-BE49-F238E27FC236}">
                <a16:creationId xmlns:a16="http://schemas.microsoft.com/office/drawing/2014/main" id="{024DC723-7A6B-A133-B722-23935D9F22EB}"/>
              </a:ext>
            </a:extLst>
          </p:cNvPr>
          <p:cNvPicPr>
            <a:picLocks noChangeAspect="1"/>
          </p:cNvPicPr>
          <p:nvPr/>
        </p:nvPicPr>
        <p:blipFill>
          <a:blip r:embed="rId3"/>
          <a:stretch>
            <a:fillRect/>
          </a:stretch>
        </p:blipFill>
        <p:spPr>
          <a:xfrm>
            <a:off x="8478774" y="1474470"/>
            <a:ext cx="205740" cy="205740"/>
          </a:xfrm>
          <a:prstGeom prst="rect">
            <a:avLst/>
          </a:prstGeom>
        </p:spPr>
      </p:pic>
      <p:sp>
        <p:nvSpPr>
          <p:cNvPr id="19" name="Icon circle Functional requirements">
            <a:extLst>
              <a:ext uri="{FF2B5EF4-FFF2-40B4-BE49-F238E27FC236}">
                <a16:creationId xmlns:a16="http://schemas.microsoft.com/office/drawing/2014/main" id="{90105EBC-49BF-C768-E4B5-57035BADE89B}"/>
              </a:ext>
            </a:extLst>
          </p:cNvPr>
          <p:cNvSpPr/>
          <p:nvPr/>
        </p:nvSpPr>
        <p:spPr>
          <a:xfrm>
            <a:off x="405791" y="634366"/>
            <a:ext cx="411480" cy="411480"/>
          </a:xfrm>
          <a:prstGeom prst="ellipse">
            <a:avLst/>
          </a:prstGeom>
          <a:solidFill>
            <a:schemeClr val="accent3"/>
          </a:solidFill>
          <a:ln w="12700">
            <a:solidFill>
              <a:schemeClr val="accent3"/>
            </a:solidFill>
            <a:prstDash val="solid"/>
          </a:ln>
        </p:spPr>
        <p:txBody>
          <a:bodyPr/>
          <a:lstStyle/>
          <a:p>
            <a:endParaRPr lang="en-IN" dirty="0"/>
          </a:p>
        </p:txBody>
      </p:sp>
      <p:pic>
        <p:nvPicPr>
          <p:cNvPr id="20" name="Image 3" descr="Functional requirements">
            <a:extLst>
              <a:ext uri="{FF2B5EF4-FFF2-40B4-BE49-F238E27FC236}">
                <a16:creationId xmlns:a16="http://schemas.microsoft.com/office/drawing/2014/main" id="{7BFD93F9-9C33-95C2-2063-9770C18D03BC}"/>
              </a:ext>
            </a:extLst>
          </p:cNvPr>
          <p:cNvPicPr>
            <a:picLocks noChangeAspect="1"/>
          </p:cNvPicPr>
          <p:nvPr/>
        </p:nvPicPr>
        <p:blipFill>
          <a:blip r:embed="rId4"/>
          <a:stretch>
            <a:fillRect/>
          </a:stretch>
        </p:blipFill>
        <p:spPr>
          <a:xfrm>
            <a:off x="535140" y="733354"/>
            <a:ext cx="205740" cy="205740"/>
          </a:xfrm>
          <a:prstGeom prst="rect">
            <a:avLst/>
          </a:prstGeom>
        </p:spPr>
      </p:pic>
      <p:sp>
        <p:nvSpPr>
          <p:cNvPr id="21" name="Text 15">
            <a:extLst>
              <a:ext uri="{FF2B5EF4-FFF2-40B4-BE49-F238E27FC236}">
                <a16:creationId xmlns:a16="http://schemas.microsoft.com/office/drawing/2014/main" id="{464FDA1F-41FD-2B89-83E9-17A4AB6501C8}"/>
              </a:ext>
            </a:extLst>
          </p:cNvPr>
          <p:cNvSpPr txBox="1"/>
          <p:nvPr/>
        </p:nvSpPr>
        <p:spPr>
          <a:xfrm>
            <a:off x="844227" y="634366"/>
            <a:ext cx="4396452" cy="411480"/>
          </a:xfrm>
          <a:prstGeom prst="rect">
            <a:avLst/>
          </a:prstGeom>
          <a:noFill/>
          <a:ln/>
        </p:spPr>
        <p:txBody>
          <a:bodyPr wrap="square" lIns="0" tIns="0" rIns="0" bIns="0" rtlCol="0" anchor="ctr"/>
          <a:lstStyle/>
          <a:p>
            <a:pPr marL="0" indent="0">
              <a:buNone/>
            </a:pPr>
            <a:r>
              <a:rPr lang="en-US" sz="2400" b="1" dirty="0">
                <a:solidFill>
                  <a:schemeClr val="tx2"/>
                </a:solidFill>
              </a:rPr>
              <a:t>Functional requirements</a:t>
            </a:r>
            <a:endParaRPr lang="en-US" sz="2400" dirty="0"/>
          </a:p>
        </p:txBody>
      </p:sp>
      <p:sp>
        <p:nvSpPr>
          <p:cNvPr id="22" name="Text 16">
            <a:extLst>
              <a:ext uri="{FF2B5EF4-FFF2-40B4-BE49-F238E27FC236}">
                <a16:creationId xmlns:a16="http://schemas.microsoft.com/office/drawing/2014/main" id="{5727EA8A-140E-8CA7-B25D-992D59F58359}"/>
              </a:ext>
            </a:extLst>
          </p:cNvPr>
          <p:cNvSpPr txBox="1"/>
          <p:nvPr/>
        </p:nvSpPr>
        <p:spPr>
          <a:xfrm>
            <a:off x="577540" y="1292994"/>
            <a:ext cx="9738144" cy="1508760"/>
          </a:xfrm>
          <a:prstGeom prst="rect">
            <a:avLst/>
          </a:prstGeom>
          <a:noFill/>
          <a:ln/>
        </p:spPr>
        <p:txBody>
          <a:bodyPr wrap="square" lIns="0" tIns="0" rIns="0" bIns="0" rtlCol="0" anchor="t"/>
          <a:lstStyle/>
          <a:p>
            <a:pPr marL="0" indent="0">
              <a:spcAft>
                <a:spcPts val="600"/>
              </a:spcAft>
              <a:buNone/>
            </a:pPr>
            <a:r>
              <a:rPr lang="en-US" sz="2400" b="1" dirty="0">
                <a:solidFill>
                  <a:schemeClr val="tx2"/>
                </a:solidFill>
              </a:rPr>
              <a:t>FR1: </a:t>
            </a:r>
            <a:r>
              <a:rPr lang="en-US" sz="2400" dirty="0">
                <a:solidFill>
                  <a:schemeClr val="tx1"/>
                </a:solidFill>
              </a:rPr>
              <a:t>translate text into Ho, Mundari or Santhali</a:t>
            </a:r>
            <a:endParaRPr lang="en-US" sz="2400" dirty="0"/>
          </a:p>
          <a:p>
            <a:pPr marL="0" indent="0">
              <a:spcAft>
                <a:spcPts val="600"/>
              </a:spcAft>
              <a:buNone/>
            </a:pPr>
            <a:r>
              <a:rPr lang="en-US" sz="2400" b="1" dirty="0">
                <a:solidFill>
                  <a:schemeClr val="tx2"/>
                </a:solidFill>
              </a:rPr>
              <a:t>FR2: </a:t>
            </a:r>
            <a:r>
              <a:rPr lang="en-US" sz="2400" dirty="0">
                <a:solidFill>
                  <a:schemeClr val="tx1"/>
                </a:solidFill>
              </a:rPr>
              <a:t>voice-to-voice translation</a:t>
            </a:r>
            <a:endParaRPr lang="en-US" sz="2400" dirty="0"/>
          </a:p>
          <a:p>
            <a:pPr marL="0" indent="0">
              <a:spcAft>
                <a:spcPts val="600"/>
              </a:spcAft>
              <a:buNone/>
            </a:pPr>
            <a:r>
              <a:rPr lang="en-US" sz="2400" b="1" dirty="0">
                <a:solidFill>
                  <a:schemeClr val="tx2"/>
                </a:solidFill>
              </a:rPr>
              <a:t>FR3: </a:t>
            </a:r>
            <a:r>
              <a:rPr lang="en-US" sz="2400" dirty="0">
                <a:solidFill>
                  <a:schemeClr val="tx1"/>
                </a:solidFill>
              </a:rPr>
              <a:t>generate bilingual worksheets and flashcards</a:t>
            </a:r>
            <a:endParaRPr lang="en-US" sz="2400" dirty="0"/>
          </a:p>
          <a:p>
            <a:pPr marL="0" indent="0">
              <a:spcAft>
                <a:spcPts val="600"/>
              </a:spcAft>
              <a:buNone/>
            </a:pPr>
            <a:r>
              <a:rPr lang="en-US" sz="2400" b="1" dirty="0">
                <a:solidFill>
                  <a:schemeClr val="tx2"/>
                </a:solidFill>
              </a:rPr>
              <a:t>FR4: </a:t>
            </a:r>
            <a:r>
              <a:rPr lang="en-US" sz="2400" dirty="0">
                <a:solidFill>
                  <a:schemeClr val="tx1"/>
                </a:solidFill>
              </a:rPr>
              <a:t>store content for offline use</a:t>
            </a:r>
            <a:endParaRPr lang="en-US" sz="2400" dirty="0"/>
          </a:p>
          <a:p>
            <a:pPr marL="0" indent="0">
              <a:spcAft>
                <a:spcPts val="600"/>
              </a:spcAft>
              <a:buNone/>
            </a:pPr>
            <a:r>
              <a:rPr lang="en-US" sz="2400" b="1" dirty="0">
                <a:solidFill>
                  <a:schemeClr val="tx2"/>
                </a:solidFill>
              </a:rPr>
              <a:t>FR5: </a:t>
            </a:r>
            <a:r>
              <a:rPr lang="en-US" sz="2400" dirty="0">
                <a:solidFill>
                  <a:schemeClr val="tx1"/>
                </a:solidFill>
              </a:rPr>
              <a:t>synchronise content when online</a:t>
            </a:r>
            <a:endParaRPr lang="en-US" sz="2400" dirty="0"/>
          </a:p>
        </p:txBody>
      </p:sp>
      <p:sp>
        <p:nvSpPr>
          <p:cNvPr id="24" name="Icon circle Non-functional requirements">
            <a:extLst>
              <a:ext uri="{FF2B5EF4-FFF2-40B4-BE49-F238E27FC236}">
                <a16:creationId xmlns:a16="http://schemas.microsoft.com/office/drawing/2014/main" id="{F2EAE039-EAA9-6EC9-C2C9-8034B44B2B83}"/>
              </a:ext>
            </a:extLst>
          </p:cNvPr>
          <p:cNvSpPr/>
          <p:nvPr/>
        </p:nvSpPr>
        <p:spPr>
          <a:xfrm>
            <a:off x="352907" y="3634740"/>
            <a:ext cx="411480" cy="411480"/>
          </a:xfrm>
          <a:prstGeom prst="ellipse">
            <a:avLst/>
          </a:prstGeom>
          <a:solidFill>
            <a:schemeClr val="accent1"/>
          </a:solidFill>
          <a:ln w="12700">
            <a:solidFill>
              <a:schemeClr val="accent1"/>
            </a:solidFill>
            <a:prstDash val="solid"/>
          </a:ln>
        </p:spPr>
      </p:sp>
      <p:pic>
        <p:nvPicPr>
          <p:cNvPr id="25" name="Image 4" descr="Non-functional requirements">
            <a:extLst>
              <a:ext uri="{FF2B5EF4-FFF2-40B4-BE49-F238E27FC236}">
                <a16:creationId xmlns:a16="http://schemas.microsoft.com/office/drawing/2014/main" id="{4ABDC08C-21B5-9F7C-9497-D478B4EF0AB4}"/>
              </a:ext>
            </a:extLst>
          </p:cNvPr>
          <p:cNvPicPr>
            <a:picLocks noChangeAspect="1"/>
          </p:cNvPicPr>
          <p:nvPr/>
        </p:nvPicPr>
        <p:blipFill>
          <a:blip r:embed="rId5"/>
          <a:stretch>
            <a:fillRect/>
          </a:stretch>
        </p:blipFill>
        <p:spPr>
          <a:xfrm>
            <a:off x="474670" y="3737610"/>
            <a:ext cx="205740" cy="205740"/>
          </a:xfrm>
          <a:prstGeom prst="rect">
            <a:avLst/>
          </a:prstGeom>
        </p:spPr>
      </p:pic>
      <p:sp>
        <p:nvSpPr>
          <p:cNvPr id="26" name="Text 19">
            <a:extLst>
              <a:ext uri="{FF2B5EF4-FFF2-40B4-BE49-F238E27FC236}">
                <a16:creationId xmlns:a16="http://schemas.microsoft.com/office/drawing/2014/main" id="{150B810D-36FC-A431-5AF4-EF514C070DC3}"/>
              </a:ext>
            </a:extLst>
          </p:cNvPr>
          <p:cNvSpPr txBox="1"/>
          <p:nvPr/>
        </p:nvSpPr>
        <p:spPr>
          <a:xfrm>
            <a:off x="886150" y="3644767"/>
            <a:ext cx="4256190" cy="411480"/>
          </a:xfrm>
          <a:prstGeom prst="rect">
            <a:avLst/>
          </a:prstGeom>
          <a:noFill/>
          <a:ln/>
        </p:spPr>
        <p:txBody>
          <a:bodyPr wrap="square" lIns="0" tIns="0" rIns="0" bIns="0" rtlCol="0" anchor="ctr"/>
          <a:lstStyle/>
          <a:p>
            <a:pPr marL="0" indent="0">
              <a:buNone/>
            </a:pPr>
            <a:r>
              <a:rPr lang="en-US" sz="2400" b="1" dirty="0">
                <a:solidFill>
                  <a:schemeClr val="tx2"/>
                </a:solidFill>
              </a:rPr>
              <a:t>Non-functional requirements</a:t>
            </a:r>
            <a:endParaRPr lang="en-US" sz="2400" dirty="0"/>
          </a:p>
        </p:txBody>
      </p:sp>
      <p:sp>
        <p:nvSpPr>
          <p:cNvPr id="27" name="Text 20">
            <a:extLst>
              <a:ext uri="{FF2B5EF4-FFF2-40B4-BE49-F238E27FC236}">
                <a16:creationId xmlns:a16="http://schemas.microsoft.com/office/drawing/2014/main" id="{837F6066-1E1D-A2E9-62E5-73BF3AB1824A}"/>
              </a:ext>
            </a:extLst>
          </p:cNvPr>
          <p:cNvSpPr txBox="1"/>
          <p:nvPr/>
        </p:nvSpPr>
        <p:spPr>
          <a:xfrm>
            <a:off x="635639" y="4179820"/>
            <a:ext cx="8767802" cy="1508760"/>
          </a:xfrm>
          <a:prstGeom prst="rect">
            <a:avLst/>
          </a:prstGeom>
          <a:noFill/>
          <a:ln/>
        </p:spPr>
        <p:txBody>
          <a:bodyPr wrap="square" lIns="0" tIns="0" rIns="0" bIns="0" rtlCol="0" anchor="t"/>
          <a:lstStyle/>
          <a:p>
            <a:pPr marL="0" indent="0">
              <a:spcAft>
                <a:spcPts val="600"/>
              </a:spcAft>
              <a:buNone/>
            </a:pPr>
            <a:r>
              <a:rPr lang="en-US" sz="2400" b="1" dirty="0">
                <a:solidFill>
                  <a:schemeClr val="tx2"/>
                </a:solidFill>
              </a:rPr>
              <a:t>Performance: </a:t>
            </a:r>
            <a:r>
              <a:rPr lang="en-US" sz="2400" dirty="0">
                <a:solidFill>
                  <a:schemeClr val="tx1"/>
                </a:solidFill>
              </a:rPr>
              <a:t>latency under 3 s (proposed target)</a:t>
            </a:r>
            <a:endParaRPr lang="en-US" sz="2400" dirty="0"/>
          </a:p>
          <a:p>
            <a:pPr marL="0" indent="0">
              <a:spcAft>
                <a:spcPts val="600"/>
              </a:spcAft>
              <a:buNone/>
            </a:pPr>
            <a:r>
              <a:rPr lang="en-US" sz="2400" b="1" dirty="0">
                <a:solidFill>
                  <a:schemeClr val="tx2"/>
                </a:solidFill>
              </a:rPr>
              <a:t>Usability: </a:t>
            </a:r>
            <a:r>
              <a:rPr lang="en-US" sz="2400" dirty="0">
                <a:solidFill>
                  <a:schemeClr val="tx1"/>
                </a:solidFill>
              </a:rPr>
              <a:t>simple interface for teachers</a:t>
            </a:r>
            <a:endParaRPr lang="en-US" sz="2400" dirty="0"/>
          </a:p>
          <a:p>
            <a:pPr marL="0" indent="0">
              <a:spcAft>
                <a:spcPts val="600"/>
              </a:spcAft>
              <a:buNone/>
            </a:pPr>
            <a:r>
              <a:rPr lang="en-US" sz="2400" b="1" dirty="0">
                <a:solidFill>
                  <a:schemeClr val="tx2"/>
                </a:solidFill>
              </a:rPr>
              <a:t>Compatibility: </a:t>
            </a:r>
            <a:r>
              <a:rPr lang="en-US" sz="2400" dirty="0">
                <a:solidFill>
                  <a:schemeClr val="tx1"/>
                </a:solidFill>
              </a:rPr>
              <a:t>low-cost Android devices</a:t>
            </a:r>
            <a:endParaRPr lang="en-US" sz="2400" dirty="0"/>
          </a:p>
          <a:p>
            <a:pPr marL="0" indent="0">
              <a:spcAft>
                <a:spcPts val="600"/>
              </a:spcAft>
              <a:buNone/>
            </a:pPr>
            <a:r>
              <a:rPr lang="en-US" sz="2400" b="1" dirty="0">
                <a:solidFill>
                  <a:schemeClr val="tx2"/>
                </a:solidFill>
              </a:rPr>
              <a:t>Reliability: </a:t>
            </a:r>
            <a:r>
              <a:rPr lang="en-US" sz="2400" dirty="0">
                <a:solidFill>
                  <a:schemeClr val="tx1"/>
                </a:solidFill>
              </a:rPr>
              <a:t>core features work offline</a:t>
            </a:r>
            <a:endParaRPr lang="en-US" sz="2400" dirty="0"/>
          </a:p>
          <a:p>
            <a:pPr marL="0" indent="0">
              <a:spcAft>
                <a:spcPts val="600"/>
              </a:spcAft>
              <a:buNone/>
            </a:pPr>
            <a:r>
              <a:rPr lang="en-US" sz="2400" b="1" dirty="0">
                <a:solidFill>
                  <a:schemeClr val="tx2"/>
                </a:solidFill>
              </a:rPr>
              <a:t>Security and privacy: </a:t>
            </a:r>
            <a:r>
              <a:rPr lang="en-US" sz="2400" dirty="0">
                <a:solidFill>
                  <a:schemeClr val="tx1"/>
                </a:solidFill>
              </a:rPr>
              <a:t>minimal data, encryption</a:t>
            </a:r>
            <a:endParaRPr lang="en-US" sz="2400" dirty="0"/>
          </a:p>
        </p:txBody>
      </p:sp>
      <p:sp>
        <p:nvSpPr>
          <p:cNvPr id="29" name="Slide Number Placeholder 0">
            <a:extLst>
              <a:ext uri="{FF2B5EF4-FFF2-40B4-BE49-F238E27FC236}">
                <a16:creationId xmlns:a16="http://schemas.microsoft.com/office/drawing/2014/main" id="{31F7C885-7EAE-944C-7BB6-39C805897B7F}"/>
              </a:ext>
            </a:extLst>
          </p:cNvPr>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5</a:t>
            </a:fld>
            <a:endParaRPr lang="en-US"/>
          </a:p>
        </p:txBody>
      </p:sp>
    </p:spTree>
    <p:extLst>
      <p:ext uri="{BB962C8B-B14F-4D97-AF65-F5344CB8AC3E}">
        <p14:creationId xmlns:p14="http://schemas.microsoft.com/office/powerpoint/2010/main" val="646953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881360" cy="731520"/>
          </a:xfrm>
          <a:prstGeom prst="rect">
            <a:avLst/>
          </a:prstGeom>
          <a:noFill/>
          <a:ln/>
        </p:spPr>
        <p:txBody>
          <a:bodyPr wrap="square" lIns="0" tIns="0" rIns="0" bIns="0" rtlCol="0" anchor="ctr"/>
          <a:lstStyle/>
          <a:p>
            <a:pPr marL="0" indent="0" algn="l">
              <a:buNone/>
            </a:pPr>
            <a:r>
              <a:rPr lang="en-US" sz="3000" b="1" dirty="0">
                <a:solidFill>
                  <a:schemeClr val="tx2"/>
                </a:solidFill>
              </a:rPr>
              <a:t>SDLC and Software Process Model Selection</a:t>
            </a:r>
            <a:endParaRPr lang="en-US" sz="3000" dirty="0"/>
          </a:p>
        </p:txBody>
      </p:sp>
      <p:sp>
        <p:nvSpPr>
          <p:cNvPr id="3" name="Text 1"/>
          <p:cNvSpPr txBox="1"/>
          <p:nvPr/>
        </p:nvSpPr>
        <p:spPr>
          <a:xfrm>
            <a:off x="640080" y="1188720"/>
            <a:ext cx="6309360" cy="228600"/>
          </a:xfrm>
          <a:prstGeom prst="rect">
            <a:avLst/>
          </a:prstGeom>
          <a:noFill/>
          <a:ln/>
        </p:spPr>
        <p:txBody>
          <a:bodyPr wrap="square" lIns="0" tIns="0" rIns="0" bIns="0" rtlCol="0" anchor="ctr"/>
          <a:lstStyle/>
          <a:p>
            <a:pPr marL="0" indent="0">
              <a:buNone/>
            </a:pPr>
            <a:r>
              <a:rPr lang="en-US" sz="1200" b="1" dirty="0">
                <a:solidFill>
                  <a:schemeClr val="accent1"/>
                </a:solidFill>
              </a:rPr>
              <a:t>SDLC stages (generic lifecycle)</a:t>
            </a:r>
            <a:endParaRPr lang="en-US" sz="1200" dirty="0"/>
          </a:p>
        </p:txBody>
      </p:sp>
      <p:sp>
        <p:nvSpPr>
          <p:cNvPr id="4" name="SDLC stage 1"/>
          <p:cNvSpPr/>
          <p:nvPr/>
        </p:nvSpPr>
        <p:spPr>
          <a:xfrm>
            <a:off x="640080" y="1463040"/>
            <a:ext cx="1371600" cy="822960"/>
          </a:xfrm>
          <a:prstGeom prst="roundRect">
            <a:avLst>
              <a:gd name="adj" fmla="val 11111"/>
            </a:avLst>
          </a:prstGeom>
          <a:solidFill>
            <a:schemeClr val="accent1"/>
          </a:solidFill>
          <a:ln w="12700">
            <a:solidFill>
              <a:schemeClr val="accent1"/>
            </a:solidFill>
            <a:prstDash val="solid"/>
          </a:ln>
        </p:spPr>
      </p:sp>
      <p:sp>
        <p:nvSpPr>
          <p:cNvPr id="5" name="Text 3"/>
          <p:cNvSpPr txBox="1"/>
          <p:nvPr/>
        </p:nvSpPr>
        <p:spPr>
          <a:xfrm>
            <a:off x="713232" y="1463040"/>
            <a:ext cx="1225296" cy="822960"/>
          </a:xfrm>
          <a:prstGeom prst="rect">
            <a:avLst/>
          </a:prstGeom>
          <a:noFill/>
          <a:ln/>
        </p:spPr>
        <p:txBody>
          <a:bodyPr wrap="square" lIns="0" tIns="0" rIns="0" bIns="0" rtlCol="0" anchor="ctr"/>
          <a:lstStyle/>
          <a:p>
            <a:pPr marL="0" indent="0" algn="ctr">
              <a:buNone/>
            </a:pPr>
            <a:r>
              <a:rPr lang="en-US" sz="1400" b="1" dirty="0">
                <a:solidFill>
                  <a:schemeClr val="accent2"/>
                </a:solidFill>
              </a:rPr>
              <a:t>1</a:t>
            </a:r>
            <a:endParaRPr lang="en-US" sz="1400" dirty="0"/>
          </a:p>
          <a:p>
            <a:pPr marL="0" indent="0" algn="ctr">
              <a:buNone/>
            </a:pPr>
            <a:r>
              <a:rPr lang="en-US" sz="1200" b="1" dirty="0">
                <a:solidFill>
                  <a:schemeClr val="bg1"/>
                </a:solidFill>
              </a:rPr>
              <a:t>Planning and feasibility</a:t>
            </a:r>
            <a:endParaRPr lang="en-US" sz="1400" dirty="0"/>
          </a:p>
        </p:txBody>
      </p:sp>
      <p:sp>
        <p:nvSpPr>
          <p:cNvPr id="6" name="SDLC stage 2"/>
          <p:cNvSpPr/>
          <p:nvPr/>
        </p:nvSpPr>
        <p:spPr>
          <a:xfrm>
            <a:off x="2286000" y="1463040"/>
            <a:ext cx="1371600" cy="822960"/>
          </a:xfrm>
          <a:prstGeom prst="roundRect">
            <a:avLst>
              <a:gd name="adj" fmla="val 11111"/>
            </a:avLst>
          </a:prstGeom>
          <a:solidFill>
            <a:schemeClr val="accent1"/>
          </a:solidFill>
          <a:ln w="12700">
            <a:solidFill>
              <a:schemeClr val="accent1"/>
            </a:solidFill>
            <a:prstDash val="solid"/>
          </a:ln>
        </p:spPr>
      </p:sp>
      <p:sp>
        <p:nvSpPr>
          <p:cNvPr id="7" name="Text 5"/>
          <p:cNvSpPr txBox="1"/>
          <p:nvPr/>
        </p:nvSpPr>
        <p:spPr>
          <a:xfrm>
            <a:off x="2359152" y="1463040"/>
            <a:ext cx="1225296" cy="822960"/>
          </a:xfrm>
          <a:prstGeom prst="rect">
            <a:avLst/>
          </a:prstGeom>
          <a:noFill/>
          <a:ln/>
        </p:spPr>
        <p:txBody>
          <a:bodyPr wrap="square" lIns="0" tIns="0" rIns="0" bIns="0" rtlCol="0" anchor="ctr"/>
          <a:lstStyle/>
          <a:p>
            <a:pPr marL="0" indent="0" algn="ctr">
              <a:buNone/>
            </a:pPr>
            <a:r>
              <a:rPr lang="en-US" sz="1400" b="1" dirty="0">
                <a:solidFill>
                  <a:schemeClr val="accent2"/>
                </a:solidFill>
              </a:rPr>
              <a:t>2</a:t>
            </a:r>
            <a:endParaRPr lang="en-US" sz="1400" dirty="0"/>
          </a:p>
          <a:p>
            <a:pPr marL="0" indent="0" algn="ctr">
              <a:buNone/>
            </a:pPr>
            <a:r>
              <a:rPr lang="en-US" sz="1200" b="1" dirty="0">
                <a:solidFill>
                  <a:schemeClr val="bg1"/>
                </a:solidFill>
              </a:rPr>
              <a:t>Requirements analysis</a:t>
            </a:r>
            <a:endParaRPr lang="en-US" sz="1400" dirty="0"/>
          </a:p>
        </p:txBody>
      </p:sp>
      <p:sp>
        <p:nvSpPr>
          <p:cNvPr id="8" name="SDLC stage 3"/>
          <p:cNvSpPr/>
          <p:nvPr/>
        </p:nvSpPr>
        <p:spPr>
          <a:xfrm>
            <a:off x="3931920" y="1463040"/>
            <a:ext cx="1371600" cy="822960"/>
          </a:xfrm>
          <a:prstGeom prst="roundRect">
            <a:avLst>
              <a:gd name="adj" fmla="val 11111"/>
            </a:avLst>
          </a:prstGeom>
          <a:solidFill>
            <a:schemeClr val="accent1"/>
          </a:solidFill>
          <a:ln w="12700">
            <a:solidFill>
              <a:schemeClr val="accent1"/>
            </a:solidFill>
            <a:prstDash val="solid"/>
          </a:ln>
        </p:spPr>
      </p:sp>
      <p:sp>
        <p:nvSpPr>
          <p:cNvPr id="9" name="Text 7"/>
          <p:cNvSpPr txBox="1"/>
          <p:nvPr/>
        </p:nvSpPr>
        <p:spPr>
          <a:xfrm>
            <a:off x="4005072" y="1463040"/>
            <a:ext cx="1225296" cy="822960"/>
          </a:xfrm>
          <a:prstGeom prst="rect">
            <a:avLst/>
          </a:prstGeom>
          <a:noFill/>
          <a:ln/>
        </p:spPr>
        <p:txBody>
          <a:bodyPr wrap="square" lIns="0" tIns="0" rIns="0" bIns="0" rtlCol="0" anchor="ctr"/>
          <a:lstStyle/>
          <a:p>
            <a:pPr marL="0" indent="0" algn="ctr">
              <a:buNone/>
            </a:pPr>
            <a:r>
              <a:rPr lang="en-US" sz="1400" b="1" dirty="0">
                <a:solidFill>
                  <a:schemeClr val="accent2"/>
                </a:solidFill>
              </a:rPr>
              <a:t>3</a:t>
            </a:r>
            <a:endParaRPr lang="en-US" sz="1400" dirty="0"/>
          </a:p>
          <a:p>
            <a:pPr marL="0" indent="0" algn="ctr">
              <a:buNone/>
            </a:pPr>
            <a:r>
              <a:rPr lang="en-US" sz="1200" b="1" dirty="0">
                <a:solidFill>
                  <a:schemeClr val="bg1"/>
                </a:solidFill>
              </a:rPr>
              <a:t>System design</a:t>
            </a:r>
            <a:endParaRPr lang="en-US" sz="1400" dirty="0"/>
          </a:p>
        </p:txBody>
      </p:sp>
      <p:sp>
        <p:nvSpPr>
          <p:cNvPr id="10" name="SDLC stage 4"/>
          <p:cNvSpPr/>
          <p:nvPr/>
        </p:nvSpPr>
        <p:spPr>
          <a:xfrm>
            <a:off x="5577840" y="1463040"/>
            <a:ext cx="1371600" cy="822960"/>
          </a:xfrm>
          <a:prstGeom prst="roundRect">
            <a:avLst>
              <a:gd name="adj" fmla="val 11111"/>
            </a:avLst>
          </a:prstGeom>
          <a:solidFill>
            <a:schemeClr val="accent1"/>
          </a:solidFill>
          <a:ln w="12700">
            <a:solidFill>
              <a:schemeClr val="accent1"/>
            </a:solidFill>
            <a:prstDash val="solid"/>
          </a:ln>
        </p:spPr>
      </p:sp>
      <p:sp>
        <p:nvSpPr>
          <p:cNvPr id="11" name="Text 9"/>
          <p:cNvSpPr txBox="1"/>
          <p:nvPr/>
        </p:nvSpPr>
        <p:spPr>
          <a:xfrm>
            <a:off x="5650992" y="1463040"/>
            <a:ext cx="1225296" cy="822960"/>
          </a:xfrm>
          <a:prstGeom prst="rect">
            <a:avLst/>
          </a:prstGeom>
          <a:noFill/>
          <a:ln/>
        </p:spPr>
        <p:txBody>
          <a:bodyPr wrap="square" lIns="0" tIns="0" rIns="0" bIns="0" rtlCol="0" anchor="ctr"/>
          <a:lstStyle/>
          <a:p>
            <a:pPr marL="0" indent="0" algn="ctr">
              <a:buNone/>
            </a:pPr>
            <a:r>
              <a:rPr lang="en-US" sz="1400" b="1" dirty="0">
                <a:solidFill>
                  <a:schemeClr val="accent2"/>
                </a:solidFill>
              </a:rPr>
              <a:t>4</a:t>
            </a:r>
            <a:endParaRPr lang="en-US" sz="1400" dirty="0"/>
          </a:p>
          <a:p>
            <a:pPr marL="0" indent="0" algn="ctr">
              <a:buNone/>
            </a:pPr>
            <a:r>
              <a:rPr lang="en-US" sz="1200" b="1" dirty="0">
                <a:solidFill>
                  <a:schemeClr val="bg1"/>
                </a:solidFill>
              </a:rPr>
              <a:t>Implementation</a:t>
            </a:r>
            <a:endParaRPr lang="en-US" sz="1400" dirty="0"/>
          </a:p>
        </p:txBody>
      </p:sp>
      <p:sp>
        <p:nvSpPr>
          <p:cNvPr id="12" name="SDLC stage 5"/>
          <p:cNvSpPr/>
          <p:nvPr/>
        </p:nvSpPr>
        <p:spPr>
          <a:xfrm>
            <a:off x="5577840" y="3017520"/>
            <a:ext cx="1371600" cy="822960"/>
          </a:xfrm>
          <a:prstGeom prst="roundRect">
            <a:avLst>
              <a:gd name="adj" fmla="val 11111"/>
            </a:avLst>
          </a:prstGeom>
          <a:solidFill>
            <a:schemeClr val="accent1"/>
          </a:solidFill>
          <a:ln w="12700">
            <a:solidFill>
              <a:schemeClr val="accent1"/>
            </a:solidFill>
            <a:prstDash val="solid"/>
          </a:ln>
        </p:spPr>
      </p:sp>
      <p:sp>
        <p:nvSpPr>
          <p:cNvPr id="13" name="Text 11"/>
          <p:cNvSpPr txBox="1"/>
          <p:nvPr/>
        </p:nvSpPr>
        <p:spPr>
          <a:xfrm>
            <a:off x="5650992" y="3017520"/>
            <a:ext cx="1225296" cy="822960"/>
          </a:xfrm>
          <a:prstGeom prst="rect">
            <a:avLst/>
          </a:prstGeom>
          <a:noFill/>
          <a:ln/>
        </p:spPr>
        <p:txBody>
          <a:bodyPr wrap="square" lIns="0" tIns="0" rIns="0" bIns="0" rtlCol="0" anchor="ctr"/>
          <a:lstStyle/>
          <a:p>
            <a:pPr marL="0" indent="0" algn="ctr">
              <a:buNone/>
            </a:pPr>
            <a:r>
              <a:rPr lang="en-US" sz="1400" b="1" dirty="0">
                <a:solidFill>
                  <a:schemeClr val="accent2"/>
                </a:solidFill>
              </a:rPr>
              <a:t>5</a:t>
            </a:r>
            <a:endParaRPr lang="en-US" sz="1400" dirty="0"/>
          </a:p>
          <a:p>
            <a:pPr marL="0" indent="0" algn="ctr">
              <a:buNone/>
            </a:pPr>
            <a:r>
              <a:rPr lang="en-US" sz="1200" b="1" dirty="0">
                <a:solidFill>
                  <a:schemeClr val="bg1"/>
                </a:solidFill>
              </a:rPr>
              <a:t>Testing</a:t>
            </a:r>
            <a:endParaRPr lang="en-US" sz="1400" dirty="0"/>
          </a:p>
        </p:txBody>
      </p:sp>
      <p:sp>
        <p:nvSpPr>
          <p:cNvPr id="14" name="SDLC stage 6"/>
          <p:cNvSpPr/>
          <p:nvPr/>
        </p:nvSpPr>
        <p:spPr>
          <a:xfrm>
            <a:off x="3931920" y="3017520"/>
            <a:ext cx="1371600" cy="822960"/>
          </a:xfrm>
          <a:prstGeom prst="roundRect">
            <a:avLst>
              <a:gd name="adj" fmla="val 11111"/>
            </a:avLst>
          </a:prstGeom>
          <a:solidFill>
            <a:schemeClr val="accent1"/>
          </a:solidFill>
          <a:ln w="12700">
            <a:solidFill>
              <a:schemeClr val="accent1"/>
            </a:solidFill>
            <a:prstDash val="solid"/>
          </a:ln>
        </p:spPr>
      </p:sp>
      <p:sp>
        <p:nvSpPr>
          <p:cNvPr id="15" name="Text 13"/>
          <p:cNvSpPr txBox="1"/>
          <p:nvPr/>
        </p:nvSpPr>
        <p:spPr>
          <a:xfrm>
            <a:off x="4005072" y="3017520"/>
            <a:ext cx="1225296" cy="822960"/>
          </a:xfrm>
          <a:prstGeom prst="rect">
            <a:avLst/>
          </a:prstGeom>
          <a:noFill/>
          <a:ln/>
        </p:spPr>
        <p:txBody>
          <a:bodyPr wrap="square" lIns="0" tIns="0" rIns="0" bIns="0" rtlCol="0" anchor="ctr"/>
          <a:lstStyle/>
          <a:p>
            <a:pPr marL="0" indent="0" algn="ctr">
              <a:buNone/>
            </a:pPr>
            <a:r>
              <a:rPr lang="en-US" sz="1400" b="1" dirty="0">
                <a:solidFill>
                  <a:schemeClr val="accent2"/>
                </a:solidFill>
              </a:rPr>
              <a:t>6</a:t>
            </a:r>
            <a:endParaRPr lang="en-US" sz="1400" dirty="0"/>
          </a:p>
          <a:p>
            <a:pPr marL="0" indent="0" algn="ctr">
              <a:buNone/>
            </a:pPr>
            <a:r>
              <a:rPr lang="en-US" sz="1200" b="1" dirty="0">
                <a:solidFill>
                  <a:schemeClr val="bg1"/>
                </a:solidFill>
              </a:rPr>
              <a:t>Deployment</a:t>
            </a:r>
            <a:endParaRPr lang="en-US" sz="1400" dirty="0"/>
          </a:p>
        </p:txBody>
      </p:sp>
      <p:sp>
        <p:nvSpPr>
          <p:cNvPr id="16" name="SDLC stage 7"/>
          <p:cNvSpPr/>
          <p:nvPr/>
        </p:nvSpPr>
        <p:spPr>
          <a:xfrm>
            <a:off x="2286000" y="3017520"/>
            <a:ext cx="1371600" cy="822960"/>
          </a:xfrm>
          <a:prstGeom prst="roundRect">
            <a:avLst>
              <a:gd name="adj" fmla="val 11111"/>
            </a:avLst>
          </a:prstGeom>
          <a:solidFill>
            <a:schemeClr val="accent1"/>
          </a:solidFill>
          <a:ln w="12700">
            <a:solidFill>
              <a:schemeClr val="accent1"/>
            </a:solidFill>
            <a:prstDash val="solid"/>
          </a:ln>
        </p:spPr>
      </p:sp>
      <p:sp>
        <p:nvSpPr>
          <p:cNvPr id="17" name="Text 15"/>
          <p:cNvSpPr txBox="1"/>
          <p:nvPr/>
        </p:nvSpPr>
        <p:spPr>
          <a:xfrm>
            <a:off x="2359152" y="3017520"/>
            <a:ext cx="1225296" cy="822960"/>
          </a:xfrm>
          <a:prstGeom prst="rect">
            <a:avLst/>
          </a:prstGeom>
          <a:noFill/>
          <a:ln/>
        </p:spPr>
        <p:txBody>
          <a:bodyPr wrap="square" lIns="0" tIns="0" rIns="0" bIns="0" rtlCol="0" anchor="ctr"/>
          <a:lstStyle/>
          <a:p>
            <a:pPr marL="0" indent="0" algn="ctr">
              <a:buNone/>
            </a:pPr>
            <a:r>
              <a:rPr lang="en-US" sz="1400" b="1" dirty="0">
                <a:solidFill>
                  <a:schemeClr val="accent2"/>
                </a:solidFill>
              </a:rPr>
              <a:t>7</a:t>
            </a:r>
            <a:endParaRPr lang="en-US" sz="1400" dirty="0"/>
          </a:p>
          <a:p>
            <a:pPr marL="0" indent="0" algn="ctr">
              <a:buNone/>
            </a:pPr>
            <a:r>
              <a:rPr lang="en-US" sz="1200" b="1" dirty="0">
                <a:solidFill>
                  <a:schemeClr val="bg1"/>
                </a:solidFill>
              </a:rPr>
              <a:t>Maintenance</a:t>
            </a:r>
            <a:endParaRPr lang="en-US" sz="1400" dirty="0"/>
          </a:p>
        </p:txBody>
      </p:sp>
      <p:sp>
        <p:nvSpPr>
          <p:cNvPr id="18" name="Feedback box"/>
          <p:cNvSpPr/>
          <p:nvPr/>
        </p:nvSpPr>
        <p:spPr>
          <a:xfrm>
            <a:off x="640080" y="3017520"/>
            <a:ext cx="1371600" cy="822960"/>
          </a:xfrm>
          <a:prstGeom prst="roundRect">
            <a:avLst>
              <a:gd name="adj" fmla="val 11111"/>
            </a:avLst>
          </a:prstGeom>
          <a:solidFill>
            <a:schemeClr val="bg2"/>
          </a:solidFill>
          <a:ln w="19050">
            <a:solidFill>
              <a:schemeClr val="accent2"/>
            </a:solidFill>
            <a:prstDash val="dash"/>
          </a:ln>
        </p:spPr>
      </p:sp>
      <p:sp>
        <p:nvSpPr>
          <p:cNvPr id="19" name="Text 17"/>
          <p:cNvSpPr txBox="1"/>
          <p:nvPr/>
        </p:nvSpPr>
        <p:spPr>
          <a:xfrm>
            <a:off x="713232" y="3017520"/>
            <a:ext cx="1225296" cy="822960"/>
          </a:xfrm>
          <a:prstGeom prst="rect">
            <a:avLst/>
          </a:prstGeom>
          <a:noFill/>
          <a:ln/>
        </p:spPr>
        <p:txBody>
          <a:bodyPr wrap="square" lIns="0" tIns="0" rIns="0" bIns="0" rtlCol="0" anchor="ctr"/>
          <a:lstStyle/>
          <a:p>
            <a:pPr marL="0" indent="0" algn="ctr">
              <a:buNone/>
            </a:pPr>
            <a:r>
              <a:rPr lang="en-US" sz="1200" b="1" dirty="0">
                <a:solidFill>
                  <a:schemeClr val="tx2"/>
                </a:solidFill>
              </a:rPr>
              <a:t>Feedback and change requests</a:t>
            </a:r>
            <a:endParaRPr lang="en-US" sz="1200" dirty="0"/>
          </a:p>
        </p:txBody>
      </p:sp>
      <p:sp>
        <p:nvSpPr>
          <p:cNvPr id="20" name="SDLC arrow"/>
          <p:cNvSpPr/>
          <p:nvPr/>
        </p:nvSpPr>
        <p:spPr>
          <a:xfrm>
            <a:off x="2011680" y="1874520"/>
            <a:ext cx="274320" cy="0"/>
          </a:xfrm>
          <a:prstGeom prst="line">
            <a:avLst/>
          </a:prstGeom>
          <a:noFill/>
          <a:ln w="31750">
            <a:solidFill>
              <a:schemeClr val="accent2"/>
            </a:solidFill>
            <a:prstDash val="solid"/>
            <a:tailEnd type="triangle"/>
          </a:ln>
        </p:spPr>
      </p:sp>
      <p:sp>
        <p:nvSpPr>
          <p:cNvPr id="21" name="SDLC arrow"/>
          <p:cNvSpPr/>
          <p:nvPr/>
        </p:nvSpPr>
        <p:spPr>
          <a:xfrm>
            <a:off x="3657600" y="1874520"/>
            <a:ext cx="274320" cy="0"/>
          </a:xfrm>
          <a:prstGeom prst="line">
            <a:avLst/>
          </a:prstGeom>
          <a:noFill/>
          <a:ln w="31750">
            <a:solidFill>
              <a:schemeClr val="accent2"/>
            </a:solidFill>
            <a:prstDash val="solid"/>
            <a:tailEnd type="triangle"/>
          </a:ln>
        </p:spPr>
      </p:sp>
      <p:sp>
        <p:nvSpPr>
          <p:cNvPr id="22" name="SDLC arrow"/>
          <p:cNvSpPr/>
          <p:nvPr/>
        </p:nvSpPr>
        <p:spPr>
          <a:xfrm>
            <a:off x="5303520" y="1874520"/>
            <a:ext cx="274320" cy="0"/>
          </a:xfrm>
          <a:prstGeom prst="line">
            <a:avLst/>
          </a:prstGeom>
          <a:noFill/>
          <a:ln w="31750">
            <a:solidFill>
              <a:schemeClr val="accent2"/>
            </a:solidFill>
            <a:prstDash val="solid"/>
            <a:tailEnd type="triangle"/>
          </a:ln>
        </p:spPr>
      </p:sp>
      <p:sp>
        <p:nvSpPr>
          <p:cNvPr id="23" name="SDLC arrow"/>
          <p:cNvSpPr/>
          <p:nvPr/>
        </p:nvSpPr>
        <p:spPr>
          <a:xfrm>
            <a:off x="6263640" y="2743200"/>
            <a:ext cx="0" cy="274320"/>
          </a:xfrm>
          <a:prstGeom prst="line">
            <a:avLst/>
          </a:prstGeom>
          <a:noFill/>
          <a:ln w="31750">
            <a:solidFill>
              <a:schemeClr val="accent2"/>
            </a:solidFill>
            <a:prstDash val="solid"/>
            <a:tailEnd type="triangle"/>
          </a:ln>
        </p:spPr>
      </p:sp>
      <p:sp>
        <p:nvSpPr>
          <p:cNvPr id="24" name="SDLC arrow"/>
          <p:cNvSpPr/>
          <p:nvPr/>
        </p:nvSpPr>
        <p:spPr>
          <a:xfrm flipH="1">
            <a:off x="5303520" y="3429000"/>
            <a:ext cx="274320" cy="0"/>
          </a:xfrm>
          <a:prstGeom prst="line">
            <a:avLst/>
          </a:prstGeom>
          <a:noFill/>
          <a:ln w="31750">
            <a:solidFill>
              <a:schemeClr val="accent2"/>
            </a:solidFill>
            <a:prstDash val="solid"/>
            <a:tailEnd type="triangle"/>
          </a:ln>
        </p:spPr>
      </p:sp>
      <p:sp>
        <p:nvSpPr>
          <p:cNvPr id="25" name="SDLC arrow"/>
          <p:cNvSpPr/>
          <p:nvPr/>
        </p:nvSpPr>
        <p:spPr>
          <a:xfrm flipH="1">
            <a:off x="3657600" y="3429000"/>
            <a:ext cx="274320" cy="0"/>
          </a:xfrm>
          <a:prstGeom prst="line">
            <a:avLst/>
          </a:prstGeom>
          <a:noFill/>
          <a:ln w="31750">
            <a:solidFill>
              <a:schemeClr val="accent2"/>
            </a:solidFill>
            <a:prstDash val="solid"/>
            <a:tailEnd type="triangle"/>
          </a:ln>
        </p:spPr>
      </p:sp>
      <p:sp>
        <p:nvSpPr>
          <p:cNvPr id="26" name="SDLC arrow"/>
          <p:cNvSpPr/>
          <p:nvPr/>
        </p:nvSpPr>
        <p:spPr>
          <a:xfrm flipH="1">
            <a:off x="2011680" y="3429000"/>
            <a:ext cx="274320" cy="0"/>
          </a:xfrm>
          <a:prstGeom prst="line">
            <a:avLst/>
          </a:prstGeom>
          <a:noFill/>
          <a:ln w="31750">
            <a:solidFill>
              <a:schemeClr val="accent2"/>
            </a:solidFill>
            <a:prstDash val="solid"/>
            <a:tailEnd type="triangle"/>
          </a:ln>
        </p:spPr>
      </p:sp>
      <p:sp>
        <p:nvSpPr>
          <p:cNvPr id="27" name="SDLC arrow"/>
          <p:cNvSpPr/>
          <p:nvPr/>
        </p:nvSpPr>
        <p:spPr>
          <a:xfrm flipV="1">
            <a:off x="1325880" y="2743200"/>
            <a:ext cx="0" cy="274320"/>
          </a:xfrm>
          <a:prstGeom prst="line">
            <a:avLst/>
          </a:prstGeom>
          <a:noFill/>
          <a:ln w="31750">
            <a:solidFill>
              <a:schemeClr val="accent2"/>
            </a:solidFill>
            <a:prstDash val="solid"/>
            <a:tailEnd type="triangle"/>
          </a:ln>
        </p:spPr>
      </p:sp>
      <p:sp>
        <p:nvSpPr>
          <p:cNvPr id="28" name="Text 26"/>
          <p:cNvSpPr txBox="1"/>
          <p:nvPr/>
        </p:nvSpPr>
        <p:spPr>
          <a:xfrm>
            <a:off x="640080" y="3931920"/>
            <a:ext cx="6309360" cy="457200"/>
          </a:xfrm>
          <a:prstGeom prst="rect">
            <a:avLst/>
          </a:prstGeom>
          <a:noFill/>
          <a:ln/>
        </p:spPr>
        <p:txBody>
          <a:bodyPr wrap="square" lIns="0" tIns="0" rIns="0" bIns="0" rtlCol="0" anchor="ctr"/>
          <a:lstStyle/>
          <a:p>
            <a:pPr marL="0" indent="0">
              <a:buNone/>
            </a:pPr>
            <a:r>
              <a:rPr lang="en-US" sz="1200" i="1" dirty="0">
                <a:solidFill>
                  <a:schemeClr val="tx1"/>
                </a:solidFill>
              </a:rPr>
              <a:t>.</a:t>
            </a:r>
            <a:endParaRPr lang="en-US" sz="1200" dirty="0"/>
          </a:p>
        </p:txBody>
      </p:sp>
      <p:graphicFrame>
        <p:nvGraphicFramePr>
          <p:cNvPr id="29" name="Waterfall vs Agile table"/>
          <p:cNvGraphicFramePr>
            <a:graphicFrameLocks noGrp="1"/>
          </p:cNvGraphicFramePr>
          <p:nvPr>
            <p:extLst>
              <p:ext uri="{D42A27DB-BD31-4B8C-83A1-F6EECF244321}">
                <p14:modId xmlns:p14="http://schemas.microsoft.com/office/powerpoint/2010/main" val="1150894964"/>
              </p:ext>
            </p:extLst>
          </p:nvPr>
        </p:nvGraphicFramePr>
        <p:xfrm>
          <a:off x="7269480" y="1234440"/>
          <a:ext cx="4279392" cy="2953512"/>
        </p:xfrm>
        <a:graphic>
          <a:graphicData uri="http://schemas.openxmlformats.org/drawingml/2006/table">
            <a:tbl>
              <a:tblPr/>
              <a:tblGrid>
                <a:gridCol w="13716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44752">
                  <a:extLst>
                    <a:ext uri="{9D8B030D-6E8A-4147-A177-3AD203B41FA5}">
                      <a16:colId xmlns:a16="http://schemas.microsoft.com/office/drawing/2014/main" val="20002"/>
                    </a:ext>
                  </a:extLst>
                </a:gridCol>
              </a:tblGrid>
              <a:tr h="365760">
                <a:tc>
                  <a:txBody>
                    <a:bodyPr/>
                    <a:lstStyle/>
                    <a:p>
                      <a:pPr marL="0" indent="0">
                        <a:buNone/>
                      </a:pPr>
                      <a:r>
                        <a:rPr lang="en-US" sz="1400" b="1" dirty="0">
                          <a:solidFill>
                            <a:schemeClr val="bg1"/>
                          </a:solidFill>
                        </a:rPr>
                        <a:t>Aspect</a:t>
                      </a:r>
                      <a:endParaRPr lang="en-US" sz="1400" dirty="0"/>
                    </a:p>
                  </a:txBody>
                  <a:tcPr marL="73152" marR="73152"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Waterfall</a:t>
                      </a:r>
                      <a:endParaRPr lang="en-US" sz="1400" dirty="0"/>
                    </a:p>
                  </a:txBody>
                  <a:tcPr marL="73152" marR="73152"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tx2"/>
                    </a:solidFill>
                  </a:tcPr>
                </a:tc>
                <a:tc>
                  <a:txBody>
                    <a:bodyPr/>
                    <a:lstStyle/>
                    <a:p>
                      <a:pPr marL="0" indent="0">
                        <a:buNone/>
                      </a:pPr>
                      <a:r>
                        <a:rPr lang="en-IN" sz="1400" dirty="0">
                          <a:solidFill>
                            <a:schemeClr val="bg1"/>
                          </a:solidFill>
                        </a:rPr>
                        <a:t>Incremental</a:t>
                      </a:r>
                      <a:endParaRPr lang="en-US" sz="1400" dirty="0">
                        <a:solidFill>
                          <a:schemeClr val="bg1"/>
                        </a:solidFill>
                      </a:endParaRPr>
                    </a:p>
                  </a:txBody>
                  <a:tcPr marL="73152" marR="73152"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48640">
                <a:tc>
                  <a:txBody>
                    <a:bodyPr/>
                    <a:lstStyle/>
                    <a:p>
                      <a:pPr marL="0" indent="0">
                        <a:buNone/>
                      </a:pPr>
                      <a:r>
                        <a:rPr lang="en-US" sz="1400" b="1" dirty="0">
                          <a:solidFill>
                            <a:schemeClr val="tx2"/>
                          </a:solidFill>
                        </a:rPr>
                        <a:t>Structure</a:t>
                      </a:r>
                      <a:endParaRPr lang="en-US" sz="1400" dirty="0"/>
                    </a:p>
                  </a:txBody>
                  <a:tcPr marL="73152" marR="73152"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Sequential phases</a:t>
                      </a:r>
                      <a:endParaRPr lang="en-US" sz="1400" dirty="0"/>
                    </a:p>
                  </a:txBody>
                  <a:tcPr marL="73152" marR="73152"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2"/>
                    </a:solidFill>
                  </a:tcPr>
                </a:tc>
                <a:tc>
                  <a:txBody>
                    <a:bodyPr/>
                    <a:lstStyle/>
                    <a:p>
                      <a:pPr marL="0" indent="0">
                        <a:buNone/>
                      </a:pPr>
                      <a:r>
                        <a:rPr lang="en-IN" sz="1400" dirty="0"/>
                        <a:t>System developed in increments</a:t>
                      </a:r>
                      <a:endParaRPr lang="en-US" sz="1400" dirty="0"/>
                    </a:p>
                  </a:txBody>
                  <a:tcPr marL="73152" marR="73152"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48640">
                <a:tc>
                  <a:txBody>
                    <a:bodyPr/>
                    <a:lstStyle/>
                    <a:p>
                      <a:pPr marL="0" indent="0">
                        <a:buNone/>
                      </a:pPr>
                      <a:r>
                        <a:rPr lang="en-US" sz="1400" b="1" dirty="0">
                          <a:solidFill>
                            <a:schemeClr val="tx2"/>
                          </a:solidFill>
                        </a:rPr>
                        <a:t>Requirements</a:t>
                      </a:r>
                      <a:endParaRPr lang="en-US" sz="1400" dirty="0"/>
                    </a:p>
                  </a:txBody>
                  <a:tcPr marL="73152" marR="73152"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Fixed early</a:t>
                      </a:r>
                      <a:endParaRPr lang="en-US" sz="1400" dirty="0"/>
                    </a:p>
                  </a:txBody>
                  <a:tcPr marL="73152" marR="73152"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1"/>
                    </a:solidFill>
                  </a:tcPr>
                </a:tc>
                <a:tc>
                  <a:txBody>
                    <a:bodyPr/>
                    <a:lstStyle/>
                    <a:p>
                      <a:pPr marL="0" indent="0">
                        <a:buNone/>
                      </a:pPr>
                      <a:r>
                        <a:rPr lang="en-IN" sz="1400" dirty="0"/>
                        <a:t>Prioritised into increments</a:t>
                      </a:r>
                      <a:endParaRPr lang="en-US" sz="1400" dirty="0"/>
                    </a:p>
                  </a:txBody>
                  <a:tcPr marL="73152" marR="73152"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48640">
                <a:tc>
                  <a:txBody>
                    <a:bodyPr/>
                    <a:lstStyle/>
                    <a:p>
                      <a:pPr marL="0" indent="0">
                        <a:buNone/>
                      </a:pPr>
                      <a:r>
                        <a:rPr lang="en-US" sz="1400" b="1" dirty="0">
                          <a:solidFill>
                            <a:schemeClr val="tx2"/>
                          </a:solidFill>
                        </a:rPr>
                        <a:t>User feedback</a:t>
                      </a:r>
                      <a:endParaRPr lang="en-US" sz="1400" dirty="0"/>
                    </a:p>
                  </a:txBody>
                  <a:tcPr marL="73152" marR="73152"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Late, at delivery</a:t>
                      </a:r>
                      <a:endParaRPr lang="en-US" sz="1400" dirty="0"/>
                    </a:p>
                  </a:txBody>
                  <a:tcPr marL="73152" marR="73152"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2"/>
                    </a:solidFill>
                  </a:tcPr>
                </a:tc>
                <a:tc>
                  <a:txBody>
                    <a:bodyPr/>
                    <a:lstStyle/>
                    <a:p>
                      <a:pPr>
                        <a:buNone/>
                      </a:pPr>
                      <a:r>
                        <a:rPr lang="en-IN" sz="1400" b="0" dirty="0"/>
                        <a:t>Feedback after each increment</a:t>
                      </a:r>
                    </a:p>
                  </a:txBody>
                  <a:tcPr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777240">
                <a:tc>
                  <a:txBody>
                    <a:bodyPr/>
                    <a:lstStyle/>
                    <a:p>
                      <a:pPr marL="0" indent="0">
                        <a:buNone/>
                      </a:pPr>
                      <a:r>
                        <a:rPr lang="en-US" sz="1400" b="1" dirty="0">
                          <a:solidFill>
                            <a:schemeClr val="tx2"/>
                          </a:solidFill>
                        </a:rPr>
                        <a:t>Fit here</a:t>
                      </a:r>
                      <a:endParaRPr lang="en-US" sz="1400" dirty="0"/>
                    </a:p>
                  </a:txBody>
                  <a:tcPr marL="73152" marR="73152"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Weak: translation needs refinement</a:t>
                      </a:r>
                      <a:endParaRPr lang="en-US" sz="1400" dirty="0"/>
                    </a:p>
                  </a:txBody>
                  <a:tcPr marL="73152" marR="73152"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3"/>
                          </a:solidFill>
                        </a:rPr>
                        <a:t>Proposed</a:t>
                      </a:r>
                      <a:endParaRPr lang="en-US" sz="1400" dirty="0"/>
                    </a:p>
                  </a:txBody>
                  <a:tcPr marL="73152" marR="73152"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30" name="Why Agile card"/>
          <p:cNvSpPr/>
          <p:nvPr/>
        </p:nvSpPr>
        <p:spPr>
          <a:xfrm>
            <a:off x="640080" y="4572000"/>
            <a:ext cx="10908792" cy="1600200"/>
          </a:xfrm>
          <a:prstGeom prst="roundRect">
            <a:avLst>
              <a:gd name="adj" fmla="val 5714"/>
            </a:avLst>
          </a:prstGeom>
          <a:solidFill>
            <a:schemeClr val="bg2"/>
          </a:solidFill>
          <a:ln w="12700">
            <a:solidFill>
              <a:schemeClr val="bg2"/>
            </a:solidFill>
            <a:prstDash val="solid"/>
          </a:ln>
        </p:spPr>
        <p:txBody>
          <a:bodyPr/>
          <a:lstStyle/>
          <a:p>
            <a:endParaRPr lang="en-IN" dirty="0"/>
          </a:p>
        </p:txBody>
      </p:sp>
      <p:sp>
        <p:nvSpPr>
          <p:cNvPr id="31" name="Text 28"/>
          <p:cNvSpPr txBox="1"/>
          <p:nvPr/>
        </p:nvSpPr>
        <p:spPr>
          <a:xfrm>
            <a:off x="868680" y="4572000"/>
            <a:ext cx="10469880" cy="1600200"/>
          </a:xfrm>
          <a:prstGeom prst="rect">
            <a:avLst/>
          </a:prstGeom>
          <a:noFill/>
          <a:ln/>
        </p:spPr>
        <p:txBody>
          <a:bodyPr wrap="square" lIns="0" tIns="0" rIns="0" bIns="0" rtlCol="0" anchor="ctr"/>
          <a:lstStyle/>
          <a:p>
            <a:pPr>
              <a:spcAft>
                <a:spcPts val="600"/>
              </a:spcAft>
            </a:pPr>
            <a:r>
              <a:rPr lang="en-US" sz="1400" b="1" dirty="0">
                <a:solidFill>
                  <a:schemeClr val="tx2"/>
                </a:solidFill>
              </a:rPr>
              <a:t>SDLC vs approach: </a:t>
            </a:r>
            <a:r>
              <a:rPr lang="en-IN" sz="1400" dirty="0"/>
              <a:t>SDLC defines the software development stages; the Incremental Model delivers functionality in successive increments.</a:t>
            </a:r>
          </a:p>
          <a:p>
            <a:pPr marL="0" indent="0">
              <a:spcAft>
                <a:spcPts val="600"/>
              </a:spcAft>
              <a:buNone/>
            </a:pPr>
            <a:endParaRPr lang="en-US" sz="1400" dirty="0"/>
          </a:p>
          <a:p>
            <a:pPr marL="0" indent="0">
              <a:spcAft>
                <a:spcPts val="600"/>
              </a:spcAft>
              <a:buNone/>
            </a:pPr>
            <a:r>
              <a:rPr lang="en-US" sz="1400" b="1" dirty="0">
                <a:solidFill>
                  <a:schemeClr val="tx2"/>
                </a:solidFill>
              </a:rPr>
              <a:t>Translation refinement: </a:t>
            </a:r>
            <a:r>
              <a:rPr lang="en-US" sz="1400" dirty="0">
                <a:solidFill>
                  <a:schemeClr val="tx1"/>
                </a:solidFill>
              </a:rPr>
              <a:t>output quality must be improved repeatedly with native-speaker feedback</a:t>
            </a:r>
          </a:p>
          <a:p>
            <a:pPr marL="0" indent="0">
              <a:spcAft>
                <a:spcPts val="600"/>
              </a:spcAft>
              <a:buNone/>
            </a:pPr>
            <a:endParaRPr lang="en-US" sz="1400" dirty="0"/>
          </a:p>
          <a:p>
            <a:pPr marL="0" indent="0">
              <a:spcAft>
                <a:spcPts val="600"/>
              </a:spcAft>
              <a:buNone/>
            </a:pPr>
            <a:r>
              <a:rPr lang="en-US" sz="1400" b="1" dirty="0">
                <a:solidFill>
                  <a:schemeClr val="tx2"/>
                </a:solidFill>
              </a:rPr>
              <a:t>Changing requirements: </a:t>
            </a:r>
            <a:r>
              <a:rPr lang="en-US" sz="1400" dirty="0">
                <a:solidFill>
                  <a:schemeClr val="tx1"/>
                </a:solidFill>
              </a:rPr>
              <a:t>teacher and expert feedback is likely to reshape requirements, so early, frequent feedback reduces risk</a:t>
            </a:r>
            <a:endParaRPr lang="en-US" sz="1400" dirty="0"/>
          </a:p>
        </p:txBody>
      </p:sp>
      <p:sp>
        <p:nvSpPr>
          <p:cNvPr id="3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881360" cy="731520"/>
          </a:xfrm>
          <a:prstGeom prst="rect">
            <a:avLst/>
          </a:prstGeom>
          <a:noFill/>
          <a:ln/>
        </p:spPr>
        <p:txBody>
          <a:bodyPr wrap="square" lIns="0" tIns="0" rIns="0" bIns="0" rtlCol="0" anchor="ctr"/>
          <a:lstStyle/>
          <a:p>
            <a:pPr marL="0" indent="0" algn="l">
              <a:buNone/>
            </a:pPr>
            <a:r>
              <a:rPr lang="en-US" sz="3000" b="1" dirty="0">
                <a:solidFill>
                  <a:schemeClr val="tx2"/>
                </a:solidFill>
              </a:rPr>
              <a:t>Feasibility Study and Risk Analysis</a:t>
            </a:r>
            <a:endParaRPr lang="en-US" sz="3000" dirty="0"/>
          </a:p>
        </p:txBody>
      </p:sp>
      <p:sp>
        <p:nvSpPr>
          <p:cNvPr id="3" name="Card Technical"/>
          <p:cNvSpPr/>
          <p:nvPr/>
        </p:nvSpPr>
        <p:spPr>
          <a:xfrm>
            <a:off x="640080" y="1234440"/>
            <a:ext cx="3520440" cy="2514600"/>
          </a:xfrm>
          <a:prstGeom prst="roundRect">
            <a:avLst>
              <a:gd name="adj" fmla="val 3636"/>
            </a:avLst>
          </a:prstGeom>
          <a:solidFill>
            <a:schemeClr val="bg2"/>
          </a:solidFill>
          <a:ln w="12700">
            <a:solidFill>
              <a:schemeClr val="bg2"/>
            </a:solidFill>
            <a:prstDash val="solid"/>
          </a:ln>
        </p:spPr>
      </p:sp>
      <p:sp>
        <p:nvSpPr>
          <p:cNvPr id="4" name="Icon circle Technical"/>
          <p:cNvSpPr/>
          <p:nvPr/>
        </p:nvSpPr>
        <p:spPr>
          <a:xfrm>
            <a:off x="822960" y="1371600"/>
            <a:ext cx="411480" cy="411480"/>
          </a:xfrm>
          <a:prstGeom prst="ellipse">
            <a:avLst/>
          </a:prstGeom>
          <a:solidFill>
            <a:schemeClr val="accent1"/>
          </a:solidFill>
          <a:ln w="12700">
            <a:solidFill>
              <a:schemeClr val="accent1"/>
            </a:solidFill>
            <a:prstDash val="solid"/>
          </a:ln>
        </p:spPr>
      </p:sp>
      <p:pic>
        <p:nvPicPr>
          <p:cNvPr id="5" name="Image 0" descr="Technical"/>
          <p:cNvPicPr>
            <a:picLocks noChangeAspect="1"/>
          </p:cNvPicPr>
          <p:nvPr/>
        </p:nvPicPr>
        <p:blipFill>
          <a:blip r:embed="rId3"/>
          <a:stretch>
            <a:fillRect/>
          </a:stretch>
        </p:blipFill>
        <p:spPr>
          <a:xfrm>
            <a:off x="925830" y="1474470"/>
            <a:ext cx="205740" cy="205740"/>
          </a:xfrm>
          <a:prstGeom prst="rect">
            <a:avLst/>
          </a:prstGeom>
        </p:spPr>
      </p:pic>
      <p:sp>
        <p:nvSpPr>
          <p:cNvPr id="6" name="Text 3"/>
          <p:cNvSpPr txBox="1"/>
          <p:nvPr/>
        </p:nvSpPr>
        <p:spPr>
          <a:xfrm>
            <a:off x="1371600" y="1371600"/>
            <a:ext cx="2606040" cy="411480"/>
          </a:xfrm>
          <a:prstGeom prst="rect">
            <a:avLst/>
          </a:prstGeom>
          <a:noFill/>
          <a:ln/>
        </p:spPr>
        <p:txBody>
          <a:bodyPr wrap="square" lIns="0" tIns="0" rIns="0" bIns="0" rtlCol="0" anchor="ctr"/>
          <a:lstStyle/>
          <a:p>
            <a:pPr marL="0" indent="0">
              <a:buNone/>
            </a:pPr>
            <a:r>
              <a:rPr lang="en-US" sz="1800" b="1" dirty="0">
                <a:solidFill>
                  <a:schemeClr val="tx2"/>
                </a:solidFill>
              </a:rPr>
              <a:t>Technical</a:t>
            </a:r>
            <a:endParaRPr lang="en-US" sz="1800" dirty="0"/>
          </a:p>
        </p:txBody>
      </p:sp>
      <p:sp>
        <p:nvSpPr>
          <p:cNvPr id="7" name="Text 4"/>
          <p:cNvSpPr txBox="1"/>
          <p:nvPr/>
        </p:nvSpPr>
        <p:spPr>
          <a:xfrm>
            <a:off x="822960" y="1920240"/>
            <a:ext cx="315468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AI translation and speech capability for these languages is unproven</a:t>
            </a:r>
            <a:endParaRPr lang="en-US" sz="1400" dirty="0"/>
          </a:p>
          <a:p>
            <a:pPr marL="342900" indent="-342900">
              <a:spcAft>
                <a:spcPts val="600"/>
              </a:spcAft>
              <a:buSzPct val="100000"/>
              <a:buChar char="•"/>
            </a:pPr>
            <a:r>
              <a:rPr lang="en-US" sz="1400" dirty="0">
                <a:solidFill>
                  <a:schemeClr val="tx1"/>
                </a:solidFill>
              </a:rPr>
              <a:t>Offline use needs compact on-device models</a:t>
            </a:r>
            <a:endParaRPr lang="en-US" sz="1400" dirty="0"/>
          </a:p>
          <a:p>
            <a:pPr marL="342900" indent="-342900">
              <a:spcAft>
                <a:spcPts val="600"/>
              </a:spcAft>
              <a:buSzPct val="100000"/>
              <a:buChar char="•"/>
            </a:pPr>
            <a:r>
              <a:rPr lang="en-US" sz="1400" dirty="0">
                <a:solidFill>
                  <a:schemeClr val="tx1"/>
                </a:solidFill>
              </a:rPr>
              <a:t>Must run on low-cost Android devices</a:t>
            </a:r>
            <a:endParaRPr lang="en-US" sz="1400" dirty="0"/>
          </a:p>
        </p:txBody>
      </p:sp>
      <p:sp>
        <p:nvSpPr>
          <p:cNvPr id="8" name="Card Operational"/>
          <p:cNvSpPr/>
          <p:nvPr/>
        </p:nvSpPr>
        <p:spPr>
          <a:xfrm>
            <a:off x="4416552" y="1234440"/>
            <a:ext cx="3520440" cy="2514600"/>
          </a:xfrm>
          <a:prstGeom prst="roundRect">
            <a:avLst>
              <a:gd name="adj" fmla="val 3636"/>
            </a:avLst>
          </a:prstGeom>
          <a:solidFill>
            <a:schemeClr val="bg2"/>
          </a:solidFill>
          <a:ln w="12700">
            <a:solidFill>
              <a:schemeClr val="bg2"/>
            </a:solidFill>
            <a:prstDash val="solid"/>
          </a:ln>
        </p:spPr>
      </p:sp>
      <p:sp>
        <p:nvSpPr>
          <p:cNvPr id="9" name="Icon circle Operational"/>
          <p:cNvSpPr/>
          <p:nvPr/>
        </p:nvSpPr>
        <p:spPr>
          <a:xfrm>
            <a:off x="4599432" y="1371600"/>
            <a:ext cx="411480" cy="411480"/>
          </a:xfrm>
          <a:prstGeom prst="ellipse">
            <a:avLst/>
          </a:prstGeom>
          <a:solidFill>
            <a:schemeClr val="accent3"/>
          </a:solidFill>
          <a:ln w="12700">
            <a:solidFill>
              <a:schemeClr val="accent3"/>
            </a:solidFill>
            <a:prstDash val="solid"/>
          </a:ln>
        </p:spPr>
      </p:sp>
      <p:pic>
        <p:nvPicPr>
          <p:cNvPr id="10" name="Image 1" descr="Operational"/>
          <p:cNvPicPr>
            <a:picLocks noChangeAspect="1"/>
          </p:cNvPicPr>
          <p:nvPr/>
        </p:nvPicPr>
        <p:blipFill>
          <a:blip r:embed="rId4"/>
          <a:stretch>
            <a:fillRect/>
          </a:stretch>
        </p:blipFill>
        <p:spPr>
          <a:xfrm>
            <a:off x="4702302" y="1474470"/>
            <a:ext cx="205740" cy="205740"/>
          </a:xfrm>
          <a:prstGeom prst="rect">
            <a:avLst/>
          </a:prstGeom>
        </p:spPr>
      </p:pic>
      <p:sp>
        <p:nvSpPr>
          <p:cNvPr id="11" name="Text 7"/>
          <p:cNvSpPr txBox="1"/>
          <p:nvPr/>
        </p:nvSpPr>
        <p:spPr>
          <a:xfrm>
            <a:off x="5148072" y="1371600"/>
            <a:ext cx="2606040" cy="411480"/>
          </a:xfrm>
          <a:prstGeom prst="rect">
            <a:avLst/>
          </a:prstGeom>
          <a:noFill/>
          <a:ln/>
        </p:spPr>
        <p:txBody>
          <a:bodyPr wrap="square" lIns="0" tIns="0" rIns="0" bIns="0" rtlCol="0" anchor="ctr"/>
          <a:lstStyle/>
          <a:p>
            <a:pPr marL="0" indent="0">
              <a:buNone/>
            </a:pPr>
            <a:r>
              <a:rPr lang="en-US" sz="1800" b="1" dirty="0">
                <a:solidFill>
                  <a:schemeClr val="tx2"/>
                </a:solidFill>
              </a:rPr>
              <a:t>Operational</a:t>
            </a:r>
            <a:endParaRPr lang="en-US" sz="1800" dirty="0"/>
          </a:p>
        </p:txBody>
      </p:sp>
      <p:sp>
        <p:nvSpPr>
          <p:cNvPr id="12" name="Text 8"/>
          <p:cNvSpPr txBox="1"/>
          <p:nvPr/>
        </p:nvSpPr>
        <p:spPr>
          <a:xfrm>
            <a:off x="4599432" y="1920240"/>
            <a:ext cx="315468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Teacher usability and a simple workflow</a:t>
            </a:r>
            <a:endParaRPr lang="en-US" sz="1400" dirty="0"/>
          </a:p>
          <a:p>
            <a:pPr marL="342900" indent="-342900">
              <a:spcAft>
                <a:spcPts val="600"/>
              </a:spcAft>
              <a:buSzPct val="100000"/>
              <a:buChar char="•"/>
            </a:pPr>
            <a:r>
              <a:rPr lang="en-US" sz="1400" dirty="0">
                <a:solidFill>
                  <a:schemeClr val="tx1"/>
                </a:solidFill>
              </a:rPr>
              <a:t>Fit with existing classroom lessons</a:t>
            </a:r>
            <a:endParaRPr lang="en-US" sz="1400" dirty="0"/>
          </a:p>
          <a:p>
            <a:pPr marL="342900" indent="-342900">
              <a:spcAft>
                <a:spcPts val="600"/>
              </a:spcAft>
              <a:buSzPct val="100000"/>
              <a:buChar char="•"/>
            </a:pPr>
            <a:r>
              <a:rPr lang="en-US" sz="1400" dirty="0">
                <a:solidFill>
                  <a:schemeClr val="tx1"/>
                </a:solidFill>
              </a:rPr>
              <a:t>Training and language validation are required</a:t>
            </a:r>
            <a:endParaRPr lang="en-US" sz="1400" dirty="0"/>
          </a:p>
        </p:txBody>
      </p:sp>
      <p:sp>
        <p:nvSpPr>
          <p:cNvPr id="13" name="Card Economic"/>
          <p:cNvSpPr/>
          <p:nvPr/>
        </p:nvSpPr>
        <p:spPr>
          <a:xfrm>
            <a:off x="8193024" y="1234440"/>
            <a:ext cx="3520440" cy="2514600"/>
          </a:xfrm>
          <a:prstGeom prst="roundRect">
            <a:avLst>
              <a:gd name="adj" fmla="val 3636"/>
            </a:avLst>
          </a:prstGeom>
          <a:solidFill>
            <a:schemeClr val="bg2"/>
          </a:solidFill>
          <a:ln w="12700">
            <a:solidFill>
              <a:schemeClr val="bg2"/>
            </a:solidFill>
            <a:prstDash val="solid"/>
          </a:ln>
        </p:spPr>
      </p:sp>
      <p:sp>
        <p:nvSpPr>
          <p:cNvPr id="14" name="Icon circle Economic"/>
          <p:cNvSpPr/>
          <p:nvPr/>
        </p:nvSpPr>
        <p:spPr>
          <a:xfrm>
            <a:off x="8375904" y="1371600"/>
            <a:ext cx="411480" cy="411480"/>
          </a:xfrm>
          <a:prstGeom prst="ellipse">
            <a:avLst/>
          </a:prstGeom>
          <a:solidFill>
            <a:schemeClr val="accent5"/>
          </a:solidFill>
          <a:ln w="12700">
            <a:solidFill>
              <a:schemeClr val="accent5"/>
            </a:solidFill>
            <a:prstDash val="solid"/>
          </a:ln>
        </p:spPr>
      </p:sp>
      <p:pic>
        <p:nvPicPr>
          <p:cNvPr id="15" name="Image 2" descr="Economic"/>
          <p:cNvPicPr>
            <a:picLocks noChangeAspect="1"/>
          </p:cNvPicPr>
          <p:nvPr/>
        </p:nvPicPr>
        <p:blipFill>
          <a:blip r:embed="rId5"/>
          <a:stretch>
            <a:fillRect/>
          </a:stretch>
        </p:blipFill>
        <p:spPr>
          <a:xfrm>
            <a:off x="8478774" y="1474470"/>
            <a:ext cx="205740" cy="205740"/>
          </a:xfrm>
          <a:prstGeom prst="rect">
            <a:avLst/>
          </a:prstGeom>
        </p:spPr>
      </p:pic>
      <p:sp>
        <p:nvSpPr>
          <p:cNvPr id="16" name="Text 11"/>
          <p:cNvSpPr txBox="1"/>
          <p:nvPr/>
        </p:nvSpPr>
        <p:spPr>
          <a:xfrm>
            <a:off x="8924544" y="1371600"/>
            <a:ext cx="2606040" cy="411480"/>
          </a:xfrm>
          <a:prstGeom prst="rect">
            <a:avLst/>
          </a:prstGeom>
          <a:noFill/>
          <a:ln/>
        </p:spPr>
        <p:txBody>
          <a:bodyPr wrap="square" lIns="0" tIns="0" rIns="0" bIns="0" rtlCol="0" anchor="ctr"/>
          <a:lstStyle/>
          <a:p>
            <a:pPr marL="0" indent="0">
              <a:buNone/>
            </a:pPr>
            <a:r>
              <a:rPr lang="en-US" sz="1800" b="1" dirty="0">
                <a:solidFill>
                  <a:schemeClr val="tx2"/>
                </a:solidFill>
              </a:rPr>
              <a:t>Economic</a:t>
            </a:r>
            <a:endParaRPr lang="en-US" sz="1800" dirty="0"/>
          </a:p>
        </p:txBody>
      </p:sp>
      <p:sp>
        <p:nvSpPr>
          <p:cNvPr id="17" name="Text 12"/>
          <p:cNvSpPr txBox="1"/>
          <p:nvPr/>
        </p:nvSpPr>
        <p:spPr>
          <a:xfrm>
            <a:off x="8375904" y="1920240"/>
            <a:ext cx="315468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Development and maintenance effort (costs not estimated)</a:t>
            </a:r>
            <a:endParaRPr lang="en-US" sz="1400" dirty="0"/>
          </a:p>
          <a:p>
            <a:pPr marL="342900" indent="-342900">
              <a:spcAft>
                <a:spcPts val="600"/>
              </a:spcAft>
              <a:buSzPct val="100000"/>
              <a:buChar char="•"/>
            </a:pPr>
            <a:r>
              <a:rPr lang="en-US" sz="1400" dirty="0">
                <a:solidFill>
                  <a:schemeClr val="tx1"/>
                </a:solidFill>
              </a:rPr>
              <a:t>Device requirements and procurement</a:t>
            </a:r>
            <a:endParaRPr lang="en-US" sz="1400" dirty="0"/>
          </a:p>
          <a:p>
            <a:pPr marL="342900" indent="-342900">
              <a:spcAft>
                <a:spcPts val="600"/>
              </a:spcAft>
              <a:buSzPct val="100000"/>
              <a:buChar char="•"/>
            </a:pPr>
            <a:r>
              <a:rPr lang="en-US" sz="1400" dirty="0">
                <a:solidFill>
                  <a:schemeClr val="tx1"/>
                </a:solidFill>
              </a:rPr>
              <a:t>Deployment and support considerations</a:t>
            </a:r>
            <a:endParaRPr lang="en-US" sz="1400" dirty="0"/>
          </a:p>
        </p:txBody>
      </p:sp>
      <p:graphicFrame>
        <p:nvGraphicFramePr>
          <p:cNvPr id="18" name="Risk table"/>
          <p:cNvGraphicFramePr>
            <a:graphicFrameLocks noGrp="1"/>
          </p:cNvGraphicFramePr>
          <p:nvPr>
            <p:extLst>
              <p:ext uri="{D42A27DB-BD31-4B8C-83A1-F6EECF244321}">
                <p14:modId xmlns:p14="http://schemas.microsoft.com/office/powerpoint/2010/main" val="1579011935"/>
              </p:ext>
            </p:extLst>
          </p:nvPr>
        </p:nvGraphicFramePr>
        <p:xfrm>
          <a:off x="640080" y="3886200"/>
          <a:ext cx="10908792" cy="2194560"/>
        </p:xfrm>
        <a:graphic>
          <a:graphicData uri="http://schemas.openxmlformats.org/drawingml/2006/table">
            <a:tbl>
              <a:tblPr/>
              <a:tblGrid>
                <a:gridCol w="3017520">
                  <a:extLst>
                    <a:ext uri="{9D8B030D-6E8A-4147-A177-3AD203B41FA5}">
                      <a16:colId xmlns:a16="http://schemas.microsoft.com/office/drawing/2014/main" val="20000"/>
                    </a:ext>
                  </a:extLst>
                </a:gridCol>
                <a:gridCol w="7891272">
                  <a:extLst>
                    <a:ext uri="{9D8B030D-6E8A-4147-A177-3AD203B41FA5}">
                      <a16:colId xmlns:a16="http://schemas.microsoft.com/office/drawing/2014/main" val="20001"/>
                    </a:ext>
                  </a:extLst>
                </a:gridCol>
              </a:tblGrid>
              <a:tr h="365760">
                <a:tc>
                  <a:txBody>
                    <a:bodyPr/>
                    <a:lstStyle/>
                    <a:p>
                      <a:pPr marL="0" indent="0">
                        <a:buNone/>
                      </a:pPr>
                      <a:r>
                        <a:rPr lang="en-US" sz="1400" b="1" dirty="0">
                          <a:solidFill>
                            <a:schemeClr val="bg1"/>
                          </a:solidFill>
                        </a:rPr>
                        <a:t>Major risk</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Proposed mitigation</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chemeClr val="tx2"/>
                          </a:solidFill>
                        </a:rPr>
                        <a:t>Translation errors</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Native-speaker review; curriculum glossary; teacher can correct output</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57200">
                <a:tc>
                  <a:txBody>
                    <a:bodyPr/>
                    <a:lstStyle/>
                    <a:p>
                      <a:pPr marL="0" indent="0">
                        <a:buNone/>
                      </a:pPr>
                      <a:r>
                        <a:rPr lang="en-US" sz="1400" b="1" dirty="0">
                          <a:solidFill>
                            <a:schemeClr val="tx2"/>
                          </a:solidFill>
                        </a:rPr>
                        <a:t>Limited digital resources</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Early data survey; start with a limited vocabulary; involve community experts</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57200">
                <a:tc>
                  <a:txBody>
                    <a:bodyPr/>
                    <a:lstStyle/>
                    <a:p>
                      <a:pPr marL="0" indent="0">
                        <a:buNone/>
                      </a:pPr>
                      <a:r>
                        <a:rPr lang="en-US" sz="1400" b="1" dirty="0">
                          <a:solidFill>
                            <a:schemeClr val="tx2"/>
                          </a:solidFill>
                        </a:rPr>
                        <a:t>Connectivity constraints</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Offline-first design; synchronise only when connected</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57200">
                <a:tc>
                  <a:txBody>
                    <a:bodyPr/>
                    <a:lstStyle/>
                    <a:p>
                      <a:pPr marL="0" indent="0">
                        <a:buNone/>
                      </a:pPr>
                      <a:r>
                        <a:rPr lang="en-US" sz="1400" b="1" dirty="0">
                          <a:solidFill>
                            <a:schemeClr val="tx2"/>
                          </a:solidFill>
                        </a:rPr>
                        <a:t>Data privacy concerns</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Data minimisation, on-device processing, consent, encryption</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881360" cy="731520"/>
          </a:xfrm>
          <a:prstGeom prst="rect">
            <a:avLst/>
          </a:prstGeom>
          <a:noFill/>
          <a:ln/>
        </p:spPr>
        <p:txBody>
          <a:bodyPr wrap="square" lIns="0" tIns="0" rIns="0" bIns="0" rtlCol="0" anchor="ctr"/>
          <a:lstStyle/>
          <a:p>
            <a:pPr marL="0" indent="0" algn="l">
              <a:buNone/>
            </a:pPr>
            <a:r>
              <a:rPr lang="en-US" sz="3000" b="1" dirty="0">
                <a:solidFill>
                  <a:schemeClr val="tx2"/>
                </a:solidFill>
              </a:rPr>
              <a:t>Proposed System Architecture and Design</a:t>
            </a:r>
            <a:endParaRPr lang="en-US" sz="3000" dirty="0"/>
          </a:p>
        </p:txBody>
      </p:sp>
      <p:sp>
        <p:nvSpPr>
          <p:cNvPr id="3" name="Proposed badge"/>
          <p:cNvSpPr/>
          <p:nvPr/>
        </p:nvSpPr>
        <p:spPr>
          <a:xfrm>
            <a:off x="9966960" y="457200"/>
            <a:ext cx="1581912" cy="365760"/>
          </a:xfrm>
          <a:prstGeom prst="roundRect">
            <a:avLst>
              <a:gd name="adj" fmla="val 25000"/>
            </a:avLst>
          </a:prstGeom>
          <a:solidFill>
            <a:schemeClr val="accent2"/>
          </a:solidFill>
          <a:ln w="12700">
            <a:solidFill>
              <a:schemeClr val="accent2"/>
            </a:solidFill>
            <a:prstDash val="solid"/>
          </a:ln>
        </p:spPr>
      </p:sp>
      <p:sp>
        <p:nvSpPr>
          <p:cNvPr id="4" name="Text 2"/>
          <p:cNvSpPr txBox="1"/>
          <p:nvPr/>
        </p:nvSpPr>
        <p:spPr>
          <a:xfrm>
            <a:off x="9966960" y="457200"/>
            <a:ext cx="1581912" cy="365760"/>
          </a:xfrm>
          <a:prstGeom prst="rect">
            <a:avLst/>
          </a:prstGeom>
          <a:noFill/>
          <a:ln/>
        </p:spPr>
        <p:txBody>
          <a:bodyPr wrap="square" lIns="0" tIns="0" rIns="0" bIns="0" rtlCol="0" anchor="ctr"/>
          <a:lstStyle/>
          <a:p>
            <a:pPr marL="0" indent="0" algn="ctr">
              <a:buNone/>
            </a:pPr>
            <a:r>
              <a:rPr lang="en-US" sz="1200" b="1" dirty="0">
                <a:solidFill>
                  <a:schemeClr val="tx1"/>
                </a:solidFill>
              </a:rPr>
              <a:t>Proposed design</a:t>
            </a:r>
            <a:endParaRPr lang="en-US" sz="1200" dirty="0"/>
          </a:p>
        </p:txBody>
      </p:sp>
      <p:sp>
        <p:nvSpPr>
          <p:cNvPr id="5" name="Device boundary"/>
          <p:cNvSpPr/>
          <p:nvPr/>
        </p:nvSpPr>
        <p:spPr>
          <a:xfrm>
            <a:off x="548640" y="1188720"/>
            <a:ext cx="8732520" cy="4663440"/>
          </a:xfrm>
          <a:prstGeom prst="roundRect">
            <a:avLst>
              <a:gd name="adj" fmla="val 1961"/>
            </a:avLst>
          </a:prstGeom>
          <a:solidFill>
            <a:schemeClr val="bg1"/>
          </a:solidFill>
          <a:ln w="15875">
            <a:solidFill>
              <a:schemeClr val="accent1"/>
            </a:solidFill>
            <a:prstDash val="dash"/>
          </a:ln>
        </p:spPr>
      </p:sp>
      <p:sp>
        <p:nvSpPr>
          <p:cNvPr id="6" name="Text 4"/>
          <p:cNvSpPr txBox="1"/>
          <p:nvPr/>
        </p:nvSpPr>
        <p:spPr>
          <a:xfrm>
            <a:off x="731520" y="1216152"/>
            <a:ext cx="5486400" cy="274320"/>
          </a:xfrm>
          <a:prstGeom prst="rect">
            <a:avLst/>
          </a:prstGeom>
          <a:noFill/>
          <a:ln/>
        </p:spPr>
        <p:txBody>
          <a:bodyPr wrap="square" lIns="0" tIns="0" rIns="0" bIns="0" rtlCol="0" anchor="ctr"/>
          <a:lstStyle/>
          <a:p>
            <a:pPr marL="0" indent="0">
              <a:buNone/>
            </a:pPr>
            <a:r>
              <a:rPr lang="en-US" sz="1200" b="1" dirty="0">
                <a:solidFill>
                  <a:schemeClr val="accent1"/>
                </a:solidFill>
              </a:rPr>
              <a:t>Proposed on-device architecture (Android tablet)</a:t>
            </a:r>
            <a:endParaRPr lang="en-US" sz="1200" dirty="0"/>
          </a:p>
        </p:txBody>
      </p:sp>
      <p:sp>
        <p:nvSpPr>
          <p:cNvPr id="7" name="UI box"/>
          <p:cNvSpPr/>
          <p:nvPr/>
        </p:nvSpPr>
        <p:spPr>
          <a:xfrm>
            <a:off x="777240" y="1554480"/>
            <a:ext cx="1920240" cy="3977640"/>
          </a:xfrm>
          <a:prstGeom prst="roundRect">
            <a:avLst>
              <a:gd name="adj" fmla="val 4762"/>
            </a:avLst>
          </a:prstGeom>
          <a:solidFill>
            <a:schemeClr val="accent1"/>
          </a:solidFill>
          <a:ln w="12700">
            <a:solidFill>
              <a:schemeClr val="accent1"/>
            </a:solidFill>
            <a:prstDash val="solid"/>
          </a:ln>
        </p:spPr>
      </p:sp>
      <p:sp>
        <p:nvSpPr>
          <p:cNvPr id="8" name="Text 6"/>
          <p:cNvSpPr txBox="1"/>
          <p:nvPr/>
        </p:nvSpPr>
        <p:spPr>
          <a:xfrm>
            <a:off x="886968" y="1554480"/>
            <a:ext cx="1700784" cy="3977640"/>
          </a:xfrm>
          <a:prstGeom prst="rect">
            <a:avLst/>
          </a:prstGeom>
          <a:noFill/>
          <a:ln/>
        </p:spPr>
        <p:txBody>
          <a:bodyPr wrap="square" lIns="0" tIns="0" rIns="0" bIns="0" rtlCol="0" anchor="ctr"/>
          <a:lstStyle/>
          <a:p>
            <a:pPr marL="0" indent="0">
              <a:spcAft>
                <a:spcPts val="400"/>
              </a:spcAft>
              <a:buNone/>
            </a:pPr>
            <a:r>
              <a:rPr lang="en-US" sz="1400" b="1" dirty="0">
                <a:solidFill>
                  <a:schemeClr val="accent2"/>
                </a:solidFill>
              </a:rPr>
              <a:t>Teacher Interface</a:t>
            </a:r>
            <a:endParaRPr lang="en-US" sz="1400" dirty="0"/>
          </a:p>
          <a:p>
            <a:pPr marL="0" indent="0">
              <a:spcAft>
                <a:spcPts val="400"/>
              </a:spcAft>
              <a:buNone/>
            </a:pPr>
            <a:r>
              <a:rPr lang="en-US" sz="1200" dirty="0">
                <a:solidFill>
                  <a:schemeClr val="bg1"/>
                </a:solidFill>
              </a:rPr>
              <a:t>Select language, enter text or speak, view results and materials</a:t>
            </a:r>
            <a:endParaRPr lang="en-US" sz="1400" dirty="0"/>
          </a:p>
        </p:txBody>
      </p:sp>
      <p:sp>
        <p:nvSpPr>
          <p:cNvPr id="9" name="Input box"/>
          <p:cNvSpPr/>
          <p:nvPr/>
        </p:nvSpPr>
        <p:spPr>
          <a:xfrm>
            <a:off x="3566160" y="1554480"/>
            <a:ext cx="2743200" cy="822960"/>
          </a:xfrm>
          <a:prstGeom prst="roundRect">
            <a:avLst>
              <a:gd name="adj" fmla="val 11111"/>
            </a:avLst>
          </a:prstGeom>
          <a:solidFill>
            <a:schemeClr val="bg2"/>
          </a:solidFill>
          <a:ln w="12700">
            <a:solidFill>
              <a:schemeClr val="bg2"/>
            </a:solidFill>
            <a:prstDash val="solid"/>
          </a:ln>
        </p:spPr>
      </p:sp>
      <p:sp>
        <p:nvSpPr>
          <p:cNvPr id="10" name="Text 8"/>
          <p:cNvSpPr txBox="1"/>
          <p:nvPr/>
        </p:nvSpPr>
        <p:spPr>
          <a:xfrm>
            <a:off x="3675888" y="1554480"/>
            <a:ext cx="2523744" cy="822960"/>
          </a:xfrm>
          <a:prstGeom prst="rect">
            <a:avLst/>
          </a:prstGeom>
          <a:noFill/>
          <a:ln/>
        </p:spPr>
        <p:txBody>
          <a:bodyPr wrap="square" lIns="0" tIns="0" rIns="0" bIns="0" rtlCol="0" anchor="ctr"/>
          <a:lstStyle/>
          <a:p>
            <a:pPr marL="0" indent="0">
              <a:buNone/>
            </a:pPr>
            <a:r>
              <a:rPr lang="en-US" sz="1400" b="1" dirty="0">
                <a:solidFill>
                  <a:schemeClr val="tx2"/>
                </a:solidFill>
              </a:rPr>
              <a:t>Text and speech input</a:t>
            </a:r>
            <a:endParaRPr lang="en-US" sz="1400" dirty="0"/>
          </a:p>
          <a:p>
            <a:pPr marL="0" indent="0">
              <a:buNone/>
            </a:pPr>
            <a:r>
              <a:rPr lang="en-US" sz="1200" dirty="0">
                <a:solidFill>
                  <a:schemeClr val="tx1"/>
                </a:solidFill>
              </a:rPr>
              <a:t>Typed text or voice; speech-to-text (ASR) for audio</a:t>
            </a:r>
            <a:endParaRPr lang="en-US" sz="1400" dirty="0"/>
          </a:p>
        </p:txBody>
      </p:sp>
      <p:sp>
        <p:nvSpPr>
          <p:cNvPr id="11" name="Translation box"/>
          <p:cNvSpPr/>
          <p:nvPr/>
        </p:nvSpPr>
        <p:spPr>
          <a:xfrm>
            <a:off x="3566160" y="2606040"/>
            <a:ext cx="2743200" cy="822960"/>
          </a:xfrm>
          <a:prstGeom prst="roundRect">
            <a:avLst>
              <a:gd name="adj" fmla="val 11111"/>
            </a:avLst>
          </a:prstGeom>
          <a:solidFill>
            <a:schemeClr val="bg2"/>
          </a:solidFill>
          <a:ln w="12700">
            <a:solidFill>
              <a:schemeClr val="bg2"/>
            </a:solidFill>
            <a:prstDash val="solid"/>
          </a:ln>
        </p:spPr>
      </p:sp>
      <p:sp>
        <p:nvSpPr>
          <p:cNvPr id="12" name="Text 10"/>
          <p:cNvSpPr txBox="1"/>
          <p:nvPr/>
        </p:nvSpPr>
        <p:spPr>
          <a:xfrm>
            <a:off x="3675888" y="2606040"/>
            <a:ext cx="2523744" cy="822960"/>
          </a:xfrm>
          <a:prstGeom prst="rect">
            <a:avLst/>
          </a:prstGeom>
          <a:noFill/>
          <a:ln/>
        </p:spPr>
        <p:txBody>
          <a:bodyPr wrap="square" lIns="0" tIns="0" rIns="0" bIns="0" rtlCol="0" anchor="ctr"/>
          <a:lstStyle/>
          <a:p>
            <a:pPr marL="0" indent="0">
              <a:buNone/>
            </a:pPr>
            <a:r>
              <a:rPr lang="en-US" sz="1400" b="1" dirty="0">
                <a:solidFill>
                  <a:schemeClr val="tx2"/>
                </a:solidFill>
              </a:rPr>
              <a:t>Translation processing</a:t>
            </a:r>
            <a:endParaRPr lang="en-US" sz="1400" dirty="0"/>
          </a:p>
          <a:p>
            <a:pPr marL="0" indent="0">
              <a:buNone/>
            </a:pPr>
            <a:r>
              <a:rPr lang="en-US" sz="1200" dirty="0">
                <a:solidFill>
                  <a:schemeClr val="tx1"/>
                </a:solidFill>
              </a:rPr>
              <a:t>Translates between the school language and Ho, Mundari or Santhali</a:t>
            </a:r>
            <a:endParaRPr lang="en-US" sz="1400" dirty="0"/>
          </a:p>
        </p:txBody>
      </p:sp>
      <p:sp>
        <p:nvSpPr>
          <p:cNvPr id="13" name="Generation box"/>
          <p:cNvSpPr/>
          <p:nvPr/>
        </p:nvSpPr>
        <p:spPr>
          <a:xfrm>
            <a:off x="3566160" y="3657600"/>
            <a:ext cx="2743200" cy="822960"/>
          </a:xfrm>
          <a:prstGeom prst="roundRect">
            <a:avLst>
              <a:gd name="adj" fmla="val 11111"/>
            </a:avLst>
          </a:prstGeom>
          <a:solidFill>
            <a:schemeClr val="bg2"/>
          </a:solidFill>
          <a:ln w="12700">
            <a:solidFill>
              <a:schemeClr val="bg2"/>
            </a:solidFill>
            <a:prstDash val="solid"/>
          </a:ln>
        </p:spPr>
      </p:sp>
      <p:sp>
        <p:nvSpPr>
          <p:cNvPr id="14" name="Text 12"/>
          <p:cNvSpPr txBox="1"/>
          <p:nvPr/>
        </p:nvSpPr>
        <p:spPr>
          <a:xfrm>
            <a:off x="3675888" y="3657600"/>
            <a:ext cx="2523744" cy="822960"/>
          </a:xfrm>
          <a:prstGeom prst="rect">
            <a:avLst/>
          </a:prstGeom>
          <a:noFill/>
          <a:ln/>
        </p:spPr>
        <p:txBody>
          <a:bodyPr wrap="square" lIns="0" tIns="0" rIns="0" bIns="0" rtlCol="0" anchor="ctr"/>
          <a:lstStyle/>
          <a:p>
            <a:pPr marL="0" indent="0">
              <a:buNone/>
            </a:pPr>
            <a:r>
              <a:rPr lang="en-US" sz="1400" b="1" dirty="0">
                <a:solidFill>
                  <a:schemeClr val="tx2"/>
                </a:solidFill>
              </a:rPr>
              <a:t>Worksheet and flashcard generation</a:t>
            </a:r>
            <a:endParaRPr lang="en-US" sz="1400" dirty="0"/>
          </a:p>
          <a:p>
            <a:pPr marL="0" indent="0">
              <a:buNone/>
            </a:pPr>
            <a:r>
              <a:rPr lang="en-US" sz="1200" dirty="0">
                <a:solidFill>
                  <a:schemeClr val="tx1"/>
                </a:solidFill>
              </a:rPr>
              <a:t>Builds bilingual materials from translated content (optional step)</a:t>
            </a:r>
            <a:endParaRPr lang="en-US" sz="1400" dirty="0"/>
          </a:p>
        </p:txBody>
      </p:sp>
      <p:sp>
        <p:nvSpPr>
          <p:cNvPr id="15" name="Output box"/>
          <p:cNvSpPr/>
          <p:nvPr/>
        </p:nvSpPr>
        <p:spPr>
          <a:xfrm>
            <a:off x="3566160" y="4709160"/>
            <a:ext cx="2743200" cy="822960"/>
          </a:xfrm>
          <a:prstGeom prst="roundRect">
            <a:avLst>
              <a:gd name="adj" fmla="val 11111"/>
            </a:avLst>
          </a:prstGeom>
          <a:solidFill>
            <a:schemeClr val="bg2"/>
          </a:solidFill>
          <a:ln w="12700">
            <a:solidFill>
              <a:schemeClr val="bg2"/>
            </a:solidFill>
            <a:prstDash val="solid"/>
          </a:ln>
        </p:spPr>
      </p:sp>
      <p:sp>
        <p:nvSpPr>
          <p:cNvPr id="16" name="Text 14"/>
          <p:cNvSpPr txBox="1"/>
          <p:nvPr/>
        </p:nvSpPr>
        <p:spPr>
          <a:xfrm>
            <a:off x="3675888" y="4709160"/>
            <a:ext cx="2523744" cy="822960"/>
          </a:xfrm>
          <a:prstGeom prst="rect">
            <a:avLst/>
          </a:prstGeom>
          <a:noFill/>
          <a:ln/>
        </p:spPr>
        <p:txBody>
          <a:bodyPr wrap="square" lIns="0" tIns="0" rIns="0" bIns="0" rtlCol="0" anchor="ctr"/>
          <a:lstStyle/>
          <a:p>
            <a:pPr marL="0" indent="0">
              <a:buNone/>
            </a:pPr>
            <a:r>
              <a:rPr lang="en-US" sz="1400" b="1" dirty="0">
                <a:solidFill>
                  <a:schemeClr val="tx2"/>
                </a:solidFill>
              </a:rPr>
              <a:t>Target-language output</a:t>
            </a:r>
            <a:endParaRPr lang="en-US" sz="1400" dirty="0"/>
          </a:p>
          <a:p>
            <a:pPr marL="0" indent="0">
              <a:buNone/>
            </a:pPr>
            <a:r>
              <a:rPr lang="en-US" sz="1200" dirty="0">
                <a:solidFill>
                  <a:schemeClr val="tx1"/>
                </a:solidFill>
              </a:rPr>
              <a:t>Translated text and audio (text-to-speech), plus generated materials</a:t>
            </a:r>
            <a:endParaRPr lang="en-US" sz="1400" dirty="0"/>
          </a:p>
        </p:txBody>
      </p:sp>
      <p:sp>
        <p:nvSpPr>
          <p:cNvPr id="17" name="Storage box"/>
          <p:cNvSpPr/>
          <p:nvPr/>
        </p:nvSpPr>
        <p:spPr>
          <a:xfrm>
            <a:off x="6858000" y="1554480"/>
            <a:ext cx="2240280" cy="2834640"/>
          </a:xfrm>
          <a:prstGeom prst="roundRect">
            <a:avLst>
              <a:gd name="adj" fmla="val 4082"/>
            </a:avLst>
          </a:prstGeom>
          <a:solidFill>
            <a:schemeClr val="accent3"/>
          </a:solidFill>
          <a:ln w="12700">
            <a:solidFill>
              <a:schemeClr val="accent3"/>
            </a:solidFill>
            <a:prstDash val="solid"/>
          </a:ln>
        </p:spPr>
      </p:sp>
      <p:sp>
        <p:nvSpPr>
          <p:cNvPr id="18" name="Text 16"/>
          <p:cNvSpPr txBox="1"/>
          <p:nvPr/>
        </p:nvSpPr>
        <p:spPr>
          <a:xfrm>
            <a:off x="6967728" y="1554480"/>
            <a:ext cx="2020824" cy="2834640"/>
          </a:xfrm>
          <a:prstGeom prst="rect">
            <a:avLst/>
          </a:prstGeom>
          <a:noFill/>
          <a:ln/>
        </p:spPr>
        <p:txBody>
          <a:bodyPr wrap="square" lIns="0" tIns="0" rIns="0" bIns="0" rtlCol="0" anchor="ctr"/>
          <a:lstStyle/>
          <a:p>
            <a:pPr marL="0" indent="0">
              <a:spcAft>
                <a:spcPts val="400"/>
              </a:spcAft>
              <a:buNone/>
            </a:pPr>
            <a:r>
              <a:rPr lang="en-US" sz="1400" b="1" dirty="0">
                <a:solidFill>
                  <a:schemeClr val="bg1"/>
                </a:solidFill>
              </a:rPr>
              <a:t>Offline Content Storage</a:t>
            </a:r>
            <a:endParaRPr lang="en-US" sz="1400" dirty="0"/>
          </a:p>
          <a:p>
            <a:pPr marL="0" indent="0">
              <a:spcAft>
                <a:spcPts val="400"/>
              </a:spcAft>
              <a:buNone/>
            </a:pPr>
            <a:r>
              <a:rPr lang="en-US" sz="1200" dirty="0">
                <a:solidFill>
                  <a:schemeClr val="bg1"/>
                </a:solidFill>
              </a:rPr>
              <a:t>Local database on the tablet</a:t>
            </a:r>
            <a:endParaRPr lang="en-US" sz="1400" dirty="0"/>
          </a:p>
          <a:p>
            <a:pPr marL="342900" indent="-342900">
              <a:spcAft>
                <a:spcPts val="400"/>
              </a:spcAft>
              <a:buSzPct val="100000"/>
              <a:buChar char="•"/>
            </a:pPr>
            <a:r>
              <a:rPr lang="en-US" sz="1200" dirty="0">
                <a:solidFill>
                  <a:schemeClr val="bg1"/>
                </a:solidFill>
              </a:rPr>
              <a:t>Language packs and glossaries</a:t>
            </a:r>
            <a:endParaRPr lang="en-US" sz="1400" dirty="0"/>
          </a:p>
          <a:p>
            <a:pPr marL="342900" indent="-342900">
              <a:spcAft>
                <a:spcPts val="400"/>
              </a:spcAft>
              <a:buSzPct val="100000"/>
              <a:buChar char="•"/>
            </a:pPr>
            <a:r>
              <a:rPr lang="en-US" sz="1200" dirty="0">
                <a:solidFill>
                  <a:schemeClr val="bg1"/>
                </a:solidFill>
              </a:rPr>
              <a:t>Cached models</a:t>
            </a:r>
            <a:endParaRPr lang="en-US" sz="1400" dirty="0"/>
          </a:p>
          <a:p>
            <a:pPr marL="342900" indent="-342900">
              <a:spcAft>
                <a:spcPts val="400"/>
              </a:spcAft>
              <a:buSzPct val="100000"/>
              <a:buChar char="•"/>
            </a:pPr>
            <a:r>
              <a:rPr lang="en-US" sz="1200" dirty="0">
                <a:solidFill>
                  <a:schemeClr val="bg1"/>
                </a:solidFill>
              </a:rPr>
              <a:t>Generated worksheets</a:t>
            </a:r>
            <a:endParaRPr lang="en-US" sz="1400" dirty="0"/>
          </a:p>
        </p:txBody>
      </p:sp>
      <p:sp>
        <p:nvSpPr>
          <p:cNvPr id="19" name="Sync box"/>
          <p:cNvSpPr/>
          <p:nvPr/>
        </p:nvSpPr>
        <p:spPr>
          <a:xfrm>
            <a:off x="6858000" y="4663440"/>
            <a:ext cx="2240280" cy="868680"/>
          </a:xfrm>
          <a:prstGeom prst="roundRect">
            <a:avLst>
              <a:gd name="adj" fmla="val 10526"/>
            </a:avLst>
          </a:prstGeom>
          <a:solidFill>
            <a:schemeClr val="accent5"/>
          </a:solidFill>
          <a:ln w="12700">
            <a:solidFill>
              <a:schemeClr val="accent5"/>
            </a:solidFill>
            <a:prstDash val="solid"/>
          </a:ln>
        </p:spPr>
      </p:sp>
      <p:sp>
        <p:nvSpPr>
          <p:cNvPr id="20" name="Text 18"/>
          <p:cNvSpPr txBox="1"/>
          <p:nvPr/>
        </p:nvSpPr>
        <p:spPr>
          <a:xfrm>
            <a:off x="6967728" y="4663440"/>
            <a:ext cx="2020824" cy="868680"/>
          </a:xfrm>
          <a:prstGeom prst="rect">
            <a:avLst/>
          </a:prstGeom>
          <a:noFill/>
          <a:ln/>
        </p:spPr>
        <p:txBody>
          <a:bodyPr wrap="square" lIns="0" tIns="0" rIns="0" bIns="0" rtlCol="0" anchor="ctr"/>
          <a:lstStyle/>
          <a:p>
            <a:pPr marL="0" indent="0">
              <a:buNone/>
            </a:pPr>
            <a:r>
              <a:rPr lang="en-US" sz="1400" b="1" dirty="0">
                <a:solidFill>
                  <a:schemeClr val="bg1"/>
                </a:solidFill>
              </a:rPr>
              <a:t>Content Synchronisation</a:t>
            </a:r>
            <a:endParaRPr lang="en-US" sz="1400" dirty="0"/>
          </a:p>
          <a:p>
            <a:pPr marL="0" indent="0">
              <a:buNone/>
            </a:pPr>
            <a:r>
              <a:rPr lang="en-US" sz="1200" dirty="0">
                <a:solidFill>
                  <a:schemeClr val="bg1"/>
                </a:solidFill>
              </a:rPr>
              <a:t>Updates content when online</a:t>
            </a:r>
            <a:endParaRPr lang="en-US" sz="1400" dirty="0"/>
          </a:p>
        </p:txBody>
      </p:sp>
      <p:sp>
        <p:nvSpPr>
          <p:cNvPr id="21" name="Server box"/>
          <p:cNvSpPr/>
          <p:nvPr/>
        </p:nvSpPr>
        <p:spPr>
          <a:xfrm>
            <a:off x="9555480" y="4663440"/>
            <a:ext cx="2011680" cy="868680"/>
          </a:xfrm>
          <a:prstGeom prst="roundRect">
            <a:avLst>
              <a:gd name="adj" fmla="val 10526"/>
            </a:avLst>
          </a:prstGeom>
          <a:solidFill>
            <a:schemeClr val="bg2"/>
          </a:solidFill>
          <a:ln w="15875">
            <a:solidFill>
              <a:schemeClr val="accent5"/>
            </a:solidFill>
            <a:prstDash val="dash"/>
          </a:ln>
        </p:spPr>
      </p:sp>
      <p:sp>
        <p:nvSpPr>
          <p:cNvPr id="22" name="Text 20"/>
          <p:cNvSpPr txBox="1"/>
          <p:nvPr/>
        </p:nvSpPr>
        <p:spPr>
          <a:xfrm>
            <a:off x="9646920" y="4663440"/>
            <a:ext cx="1828800" cy="868680"/>
          </a:xfrm>
          <a:prstGeom prst="rect">
            <a:avLst/>
          </a:prstGeom>
          <a:noFill/>
          <a:ln/>
        </p:spPr>
        <p:txBody>
          <a:bodyPr wrap="square" lIns="0" tIns="0" rIns="0" bIns="0" rtlCol="0" anchor="ctr"/>
          <a:lstStyle/>
          <a:p>
            <a:pPr marL="0" indent="0">
              <a:buNone/>
            </a:pPr>
            <a:r>
              <a:rPr lang="en-US" sz="1400" b="1" dirty="0">
                <a:solidFill>
                  <a:schemeClr val="tx2"/>
                </a:solidFill>
              </a:rPr>
              <a:t>Content server</a:t>
            </a:r>
            <a:endParaRPr lang="en-US" sz="1400" dirty="0"/>
          </a:p>
          <a:p>
            <a:pPr marL="0" indent="0">
              <a:buNone/>
            </a:pPr>
            <a:r>
              <a:rPr lang="en-US" sz="1200" dirty="0">
                <a:solidFill>
                  <a:schemeClr val="tx1"/>
                </a:solidFill>
              </a:rPr>
              <a:t>Reached only when online</a:t>
            </a:r>
            <a:endParaRPr lang="en-US" sz="1400" dirty="0"/>
          </a:p>
        </p:txBody>
      </p:sp>
      <p:sp>
        <p:nvSpPr>
          <p:cNvPr id="23" name="UI to input"/>
          <p:cNvSpPr/>
          <p:nvPr/>
        </p:nvSpPr>
        <p:spPr>
          <a:xfrm>
            <a:off x="2697480" y="1965960"/>
            <a:ext cx="868680" cy="0"/>
          </a:xfrm>
          <a:prstGeom prst="line">
            <a:avLst/>
          </a:prstGeom>
          <a:noFill/>
          <a:ln w="31750">
            <a:solidFill>
              <a:schemeClr val="accent2"/>
            </a:solidFill>
            <a:prstDash val="solid"/>
            <a:tailEnd type="triangle"/>
          </a:ln>
        </p:spPr>
      </p:sp>
      <p:sp>
        <p:nvSpPr>
          <p:cNvPr id="24" name="Input to translation"/>
          <p:cNvSpPr/>
          <p:nvPr/>
        </p:nvSpPr>
        <p:spPr>
          <a:xfrm>
            <a:off x="4937760" y="2377440"/>
            <a:ext cx="0" cy="228600"/>
          </a:xfrm>
          <a:prstGeom prst="line">
            <a:avLst/>
          </a:prstGeom>
          <a:noFill/>
          <a:ln w="31750">
            <a:solidFill>
              <a:schemeClr val="accent2"/>
            </a:solidFill>
            <a:prstDash val="solid"/>
            <a:tailEnd type="triangle"/>
          </a:ln>
        </p:spPr>
      </p:sp>
      <p:sp>
        <p:nvSpPr>
          <p:cNvPr id="25" name="Translation to generation"/>
          <p:cNvSpPr/>
          <p:nvPr/>
        </p:nvSpPr>
        <p:spPr>
          <a:xfrm>
            <a:off x="4937760" y="3429000"/>
            <a:ext cx="0" cy="228600"/>
          </a:xfrm>
          <a:prstGeom prst="line">
            <a:avLst/>
          </a:prstGeom>
          <a:noFill/>
          <a:ln w="31750">
            <a:solidFill>
              <a:schemeClr val="accent2"/>
            </a:solidFill>
            <a:prstDash val="solid"/>
            <a:tailEnd type="triangle"/>
          </a:ln>
        </p:spPr>
      </p:sp>
      <p:sp>
        <p:nvSpPr>
          <p:cNvPr id="26" name="Generation to output"/>
          <p:cNvSpPr/>
          <p:nvPr/>
        </p:nvSpPr>
        <p:spPr>
          <a:xfrm>
            <a:off x="4937760" y="4480560"/>
            <a:ext cx="0" cy="228600"/>
          </a:xfrm>
          <a:prstGeom prst="line">
            <a:avLst/>
          </a:prstGeom>
          <a:noFill/>
          <a:ln w="31750">
            <a:solidFill>
              <a:schemeClr val="accent2"/>
            </a:solidFill>
            <a:prstDash val="solid"/>
            <a:tailEnd type="triangle"/>
          </a:ln>
        </p:spPr>
      </p:sp>
      <p:sp>
        <p:nvSpPr>
          <p:cNvPr id="27" name="Output to UI"/>
          <p:cNvSpPr/>
          <p:nvPr/>
        </p:nvSpPr>
        <p:spPr>
          <a:xfrm flipH="1">
            <a:off x="2697480" y="5120640"/>
            <a:ext cx="868680" cy="0"/>
          </a:xfrm>
          <a:prstGeom prst="line">
            <a:avLst/>
          </a:prstGeom>
          <a:noFill/>
          <a:ln w="31750">
            <a:solidFill>
              <a:schemeClr val="accent2"/>
            </a:solidFill>
            <a:prstDash val="solid"/>
            <a:tailEnd type="triangle"/>
          </a:ln>
        </p:spPr>
      </p:sp>
      <p:sp>
        <p:nvSpPr>
          <p:cNvPr id="28" name="Translation storage"/>
          <p:cNvSpPr/>
          <p:nvPr/>
        </p:nvSpPr>
        <p:spPr>
          <a:xfrm>
            <a:off x="6309360" y="3017520"/>
            <a:ext cx="548640" cy="0"/>
          </a:xfrm>
          <a:prstGeom prst="line">
            <a:avLst/>
          </a:prstGeom>
          <a:noFill/>
          <a:ln w="31750">
            <a:solidFill>
              <a:schemeClr val="accent2"/>
            </a:solidFill>
            <a:prstDash val="solid"/>
            <a:headEnd type="triangle"/>
            <a:tailEnd type="triangle"/>
          </a:ln>
        </p:spPr>
      </p:sp>
      <p:sp>
        <p:nvSpPr>
          <p:cNvPr id="29" name="Generation storage"/>
          <p:cNvSpPr/>
          <p:nvPr/>
        </p:nvSpPr>
        <p:spPr>
          <a:xfrm>
            <a:off x="6309360" y="4069080"/>
            <a:ext cx="548640" cy="0"/>
          </a:xfrm>
          <a:prstGeom prst="line">
            <a:avLst/>
          </a:prstGeom>
          <a:noFill/>
          <a:ln w="31750">
            <a:solidFill>
              <a:schemeClr val="accent2"/>
            </a:solidFill>
            <a:prstDash val="solid"/>
            <a:headEnd type="triangle"/>
            <a:tailEnd type="triangle"/>
          </a:ln>
        </p:spPr>
      </p:sp>
      <p:sp>
        <p:nvSpPr>
          <p:cNvPr id="30" name="Storage sync"/>
          <p:cNvSpPr/>
          <p:nvPr/>
        </p:nvSpPr>
        <p:spPr>
          <a:xfrm>
            <a:off x="7973568" y="4389120"/>
            <a:ext cx="0" cy="274320"/>
          </a:xfrm>
          <a:prstGeom prst="line">
            <a:avLst/>
          </a:prstGeom>
          <a:noFill/>
          <a:ln w="31750">
            <a:solidFill>
              <a:schemeClr val="accent2"/>
            </a:solidFill>
            <a:prstDash val="solid"/>
            <a:headEnd type="triangle"/>
            <a:tailEnd type="triangle"/>
          </a:ln>
        </p:spPr>
      </p:sp>
      <p:sp>
        <p:nvSpPr>
          <p:cNvPr id="31" name="Sync server"/>
          <p:cNvSpPr/>
          <p:nvPr/>
        </p:nvSpPr>
        <p:spPr>
          <a:xfrm>
            <a:off x="9098280" y="5102352"/>
            <a:ext cx="457200" cy="0"/>
          </a:xfrm>
          <a:prstGeom prst="line">
            <a:avLst/>
          </a:prstGeom>
          <a:noFill/>
          <a:ln w="31750">
            <a:solidFill>
              <a:schemeClr val="accent2"/>
            </a:solidFill>
            <a:prstDash val="solid"/>
            <a:headEnd type="triangle"/>
            <a:tailEnd type="triangle"/>
          </a:ln>
        </p:spPr>
      </p:sp>
      <p:sp>
        <p:nvSpPr>
          <p:cNvPr id="32" name="Principles card"/>
          <p:cNvSpPr/>
          <p:nvPr/>
        </p:nvSpPr>
        <p:spPr>
          <a:xfrm>
            <a:off x="9555480" y="1188720"/>
            <a:ext cx="2011680" cy="3374654"/>
          </a:xfrm>
          <a:prstGeom prst="roundRect">
            <a:avLst>
              <a:gd name="adj" fmla="val 4545"/>
            </a:avLst>
          </a:prstGeom>
          <a:solidFill>
            <a:schemeClr val="bg2"/>
          </a:solidFill>
          <a:ln w="12700">
            <a:solidFill>
              <a:schemeClr val="bg2"/>
            </a:solidFill>
            <a:prstDash val="solid"/>
          </a:ln>
        </p:spPr>
      </p:sp>
      <p:sp>
        <p:nvSpPr>
          <p:cNvPr id="33" name="Text 31"/>
          <p:cNvSpPr txBox="1"/>
          <p:nvPr/>
        </p:nvSpPr>
        <p:spPr>
          <a:xfrm>
            <a:off x="9674352" y="1280160"/>
            <a:ext cx="1792224" cy="3063240"/>
          </a:xfrm>
          <a:prstGeom prst="rect">
            <a:avLst/>
          </a:prstGeom>
          <a:noFill/>
          <a:ln/>
        </p:spPr>
        <p:txBody>
          <a:bodyPr wrap="square" lIns="0" tIns="0" rIns="0" bIns="0" rtlCol="0" anchor="t"/>
          <a:lstStyle/>
          <a:p>
            <a:pPr marL="0" indent="0">
              <a:spcAft>
                <a:spcPts val="600"/>
              </a:spcAft>
              <a:buNone/>
            </a:pPr>
            <a:r>
              <a:rPr lang="en-US" sz="1600" b="1" dirty="0">
                <a:solidFill>
                  <a:schemeClr val="tx2"/>
                </a:solidFill>
              </a:rPr>
              <a:t>Design links</a:t>
            </a:r>
            <a:endParaRPr lang="en-US" sz="1400" dirty="0"/>
          </a:p>
          <a:p>
            <a:pPr marL="0" indent="0">
              <a:spcAft>
                <a:spcPts val="600"/>
              </a:spcAft>
              <a:buNone/>
            </a:pPr>
            <a:r>
              <a:rPr lang="en-US" sz="1400" b="1" dirty="0">
                <a:solidFill>
                  <a:schemeClr val="tx2"/>
                </a:solidFill>
              </a:rPr>
              <a:t>Modularity: </a:t>
            </a:r>
            <a:r>
              <a:rPr lang="en-US" sz="1400" dirty="0">
                <a:solidFill>
                  <a:schemeClr val="tx1"/>
                </a:solidFill>
              </a:rPr>
              <a:t>independent, testable components</a:t>
            </a:r>
            <a:endParaRPr lang="en-US" sz="1400" dirty="0"/>
          </a:p>
          <a:p>
            <a:pPr marL="0" indent="0">
              <a:spcAft>
                <a:spcPts val="600"/>
              </a:spcAft>
              <a:buNone/>
            </a:pPr>
            <a:r>
              <a:rPr lang="en-US" sz="1400" b="1" dirty="0">
                <a:solidFill>
                  <a:schemeClr val="tx2"/>
                </a:solidFill>
              </a:rPr>
              <a:t>System modelling: </a:t>
            </a:r>
            <a:r>
              <a:rPr lang="en-US" sz="1400" dirty="0">
                <a:solidFill>
                  <a:schemeClr val="tx1"/>
                </a:solidFill>
              </a:rPr>
              <a:t>component and data-flow view</a:t>
            </a:r>
            <a:endParaRPr lang="en-US" sz="1400" dirty="0"/>
          </a:p>
          <a:p>
            <a:pPr>
              <a:spcAft>
                <a:spcPts val="600"/>
              </a:spcAft>
            </a:pPr>
            <a:r>
              <a:rPr lang="en-US" sz="1400" b="1" dirty="0">
                <a:solidFill>
                  <a:schemeClr val="tx2"/>
                </a:solidFill>
              </a:rPr>
              <a:t>User-centred: </a:t>
            </a:r>
            <a:r>
              <a:rPr lang="en-US" sz="1400" dirty="0">
                <a:solidFill>
                  <a:schemeClr val="tx1"/>
                </a:solidFill>
              </a:rPr>
              <a:t>teacher-first interface</a:t>
            </a:r>
            <a:br>
              <a:rPr lang="en-US" sz="1400" dirty="0">
                <a:solidFill>
                  <a:schemeClr val="tx1"/>
                </a:solidFill>
              </a:rPr>
            </a:br>
            <a:r>
              <a:rPr lang="en-US" sz="1400" dirty="0">
                <a:solidFill>
                  <a:schemeClr val="tx1"/>
                </a:solidFill>
              </a:rPr>
              <a:t>I</a:t>
            </a:r>
            <a:r>
              <a:rPr lang="en-IN" sz="1400" b="1" dirty="0" err="1"/>
              <a:t>ncremental</a:t>
            </a:r>
            <a:r>
              <a:rPr lang="en-IN" sz="1400" b="1" dirty="0"/>
              <a:t> Development:</a:t>
            </a:r>
            <a:br>
              <a:rPr lang="en-IN" sz="1400" dirty="0"/>
            </a:br>
            <a:r>
              <a:rPr lang="en-IN" sz="1400" dirty="0"/>
              <a:t>Features can be developed and tested in successive increments.</a:t>
            </a:r>
            <a:endParaRPr lang="en-US" sz="1400" dirty="0"/>
          </a:p>
        </p:txBody>
      </p:sp>
      <p:sp>
        <p:nvSpPr>
          <p:cNvPr id="3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881360" cy="731520"/>
          </a:xfrm>
          <a:prstGeom prst="rect">
            <a:avLst/>
          </a:prstGeom>
          <a:noFill/>
          <a:ln/>
        </p:spPr>
        <p:txBody>
          <a:bodyPr wrap="square" lIns="0" tIns="0" rIns="0" bIns="0" rtlCol="0" anchor="ctr"/>
          <a:lstStyle/>
          <a:p>
            <a:r>
              <a:rPr lang="en-IN" dirty="0"/>
              <a:t>Incremental Model and Development Plan</a:t>
            </a:r>
            <a:endParaRPr lang="en-US" sz="3000" dirty="0"/>
          </a:p>
        </p:txBody>
      </p:sp>
      <p:sp>
        <p:nvSpPr>
          <p:cNvPr id="3" name="Proposed badge"/>
          <p:cNvSpPr/>
          <p:nvPr/>
        </p:nvSpPr>
        <p:spPr>
          <a:xfrm>
            <a:off x="9966960" y="457200"/>
            <a:ext cx="1581912" cy="365760"/>
          </a:xfrm>
          <a:prstGeom prst="roundRect">
            <a:avLst>
              <a:gd name="adj" fmla="val 25000"/>
            </a:avLst>
          </a:prstGeom>
          <a:solidFill>
            <a:schemeClr val="accent2"/>
          </a:solidFill>
          <a:ln w="12700">
            <a:solidFill>
              <a:schemeClr val="accent2"/>
            </a:solidFill>
            <a:prstDash val="solid"/>
          </a:ln>
        </p:spPr>
      </p:sp>
      <p:sp>
        <p:nvSpPr>
          <p:cNvPr id="4" name="Text 2"/>
          <p:cNvSpPr txBox="1"/>
          <p:nvPr/>
        </p:nvSpPr>
        <p:spPr>
          <a:xfrm>
            <a:off x="9966960" y="457200"/>
            <a:ext cx="1581912" cy="365760"/>
          </a:xfrm>
          <a:prstGeom prst="rect">
            <a:avLst/>
          </a:prstGeom>
          <a:noFill/>
          <a:ln/>
        </p:spPr>
        <p:txBody>
          <a:bodyPr wrap="square" lIns="0" tIns="0" rIns="0" bIns="0" rtlCol="0" anchor="ctr"/>
          <a:lstStyle/>
          <a:p>
            <a:pPr marL="0" indent="0" algn="ctr">
              <a:buNone/>
            </a:pPr>
            <a:r>
              <a:rPr lang="en-US" sz="1200" b="1" dirty="0">
                <a:solidFill>
                  <a:schemeClr val="tx1"/>
                </a:solidFill>
              </a:rPr>
              <a:t>Proposed plan</a:t>
            </a:r>
            <a:endParaRPr lang="en-US" sz="1200" dirty="0"/>
          </a:p>
        </p:txBody>
      </p:sp>
      <p:sp>
        <p:nvSpPr>
          <p:cNvPr id="5" name="Text 3"/>
          <p:cNvSpPr txBox="1"/>
          <p:nvPr/>
        </p:nvSpPr>
        <p:spPr>
          <a:xfrm>
            <a:off x="640080" y="1188720"/>
            <a:ext cx="5029200" cy="320040"/>
          </a:xfrm>
          <a:prstGeom prst="rect">
            <a:avLst/>
          </a:prstGeom>
          <a:noFill/>
          <a:ln/>
        </p:spPr>
        <p:txBody>
          <a:bodyPr wrap="square" lIns="0" tIns="0" rIns="0" bIns="0" rtlCol="0" anchor="ctr"/>
          <a:lstStyle/>
          <a:p>
            <a:r>
              <a:rPr lang="en-US" sz="2800" b="1" dirty="0">
                <a:solidFill>
                  <a:schemeClr val="tx2"/>
                </a:solidFill>
              </a:rPr>
              <a:t>Why incremental model?</a:t>
            </a:r>
            <a:endParaRPr lang="en-US" sz="2800" dirty="0"/>
          </a:p>
        </p:txBody>
      </p:sp>
      <p:sp>
        <p:nvSpPr>
          <p:cNvPr id="6" name="Text 4"/>
          <p:cNvSpPr txBox="1"/>
          <p:nvPr/>
        </p:nvSpPr>
        <p:spPr>
          <a:xfrm>
            <a:off x="334641" y="1554480"/>
            <a:ext cx="5426079" cy="4337362"/>
          </a:xfrm>
          <a:prstGeom prst="rect">
            <a:avLst/>
          </a:prstGeom>
          <a:noFill/>
          <a:ln/>
        </p:spPr>
        <p:txBody>
          <a:bodyPr wrap="square" lIns="0" tIns="0" rIns="0" bIns="0" rtlCol="0" anchor="t"/>
          <a:lstStyle/>
          <a:p>
            <a:pPr marL="285750" lvl="0" indent="-285750">
              <a:buFont typeface="Arial" panose="020B0604020202020204" pitchFamily="34" charset="0"/>
              <a:buChar char="•"/>
            </a:pPr>
            <a:endParaRPr lang="en-IN" sz="2400" dirty="0"/>
          </a:p>
          <a:p>
            <a:pPr marL="285750" lvl="0" indent="-285750">
              <a:buFont typeface="Arial" panose="020B0604020202020204" pitchFamily="34" charset="0"/>
              <a:buChar char="•"/>
            </a:pPr>
            <a:endParaRPr lang="en-IN" sz="2400" dirty="0"/>
          </a:p>
          <a:p>
            <a:pPr marL="285750" lvl="0" indent="-285750">
              <a:buFont typeface="Arial" panose="020B0604020202020204" pitchFamily="34" charset="0"/>
              <a:buChar char="•"/>
            </a:pPr>
            <a:r>
              <a:rPr lang="en-IN" sz="2400" dirty="0"/>
              <a:t>Develops the system in smaller functional increments. </a:t>
            </a:r>
          </a:p>
          <a:p>
            <a:pPr marL="285750" lvl="0" indent="-285750">
              <a:buFont typeface="Arial" panose="020B0604020202020204" pitchFamily="34" charset="0"/>
              <a:buChar char="•"/>
            </a:pPr>
            <a:endParaRPr lang="en-IN" sz="2400" dirty="0"/>
          </a:p>
          <a:p>
            <a:pPr marL="285750" lvl="0" indent="-285750">
              <a:buFont typeface="Arial" panose="020B0604020202020204" pitchFamily="34" charset="0"/>
              <a:buChar char="•"/>
            </a:pPr>
            <a:r>
              <a:rPr lang="en-IN" sz="2400" dirty="0"/>
              <a:t>Each increment adds new features. </a:t>
            </a:r>
          </a:p>
          <a:p>
            <a:pPr marL="285750" lvl="0" indent="-285750">
              <a:buFont typeface="Arial" panose="020B0604020202020204" pitchFamily="34" charset="0"/>
              <a:buChar char="•"/>
            </a:pPr>
            <a:endParaRPr lang="en-IN" sz="2400" dirty="0"/>
          </a:p>
          <a:p>
            <a:pPr marL="285750" lvl="0" indent="-285750">
              <a:buFont typeface="Arial" panose="020B0604020202020204" pitchFamily="34" charset="0"/>
              <a:buChar char="•"/>
            </a:pPr>
            <a:endParaRPr lang="en-IN" sz="2400" dirty="0"/>
          </a:p>
          <a:p>
            <a:pPr marL="285750" lvl="0" indent="-285750">
              <a:buFont typeface="Arial" panose="020B0604020202020204" pitchFamily="34" charset="0"/>
              <a:buChar char="•"/>
            </a:pPr>
            <a:r>
              <a:rPr lang="en-IN" sz="2400" dirty="0"/>
              <a:t>Each increment is tested before integration. </a:t>
            </a:r>
          </a:p>
          <a:p>
            <a:pPr marL="285750" lvl="0" indent="-285750">
              <a:buFont typeface="Arial" panose="020B0604020202020204" pitchFamily="34" charset="0"/>
              <a:buChar char="•"/>
            </a:pPr>
            <a:endParaRPr lang="en-IN" sz="2400" dirty="0"/>
          </a:p>
          <a:p>
            <a:pPr marL="285750" lvl="0" indent="-285750">
              <a:buFont typeface="Arial" panose="020B0604020202020204" pitchFamily="34" charset="0"/>
              <a:buChar char="•"/>
            </a:pPr>
            <a:r>
              <a:rPr lang="en-IN" sz="2400" dirty="0"/>
              <a:t>Allows progressive development of the proposed system</a:t>
            </a:r>
            <a:r>
              <a:rPr lang="en-IN" sz="1400" dirty="0"/>
              <a:t>.</a:t>
            </a:r>
          </a:p>
          <a:p>
            <a:pPr marL="342900" indent="-342900">
              <a:spcAft>
                <a:spcPts val="600"/>
              </a:spcAft>
              <a:buSzPct val="100000"/>
              <a:buChar char="•"/>
            </a:pPr>
            <a:endParaRPr lang="en-US" sz="1400" dirty="0"/>
          </a:p>
        </p:txBody>
      </p:sp>
      <p:sp>
        <p:nvSpPr>
          <p:cNvPr id="7" name="Text 5"/>
          <p:cNvSpPr txBox="1"/>
          <p:nvPr/>
        </p:nvSpPr>
        <p:spPr>
          <a:xfrm>
            <a:off x="6096000" y="4160520"/>
            <a:ext cx="5029200" cy="320040"/>
          </a:xfrm>
          <a:prstGeom prst="rect">
            <a:avLst/>
          </a:prstGeom>
          <a:noFill/>
          <a:ln/>
        </p:spPr>
        <p:txBody>
          <a:bodyPr wrap="square" lIns="0" tIns="0" rIns="0" bIns="0" rtlCol="0" anchor="ctr"/>
          <a:lstStyle/>
          <a:p>
            <a:pPr marL="0" indent="0">
              <a:buNone/>
            </a:pPr>
            <a:r>
              <a:rPr lang="en-US" b="1" dirty="0">
                <a:solidFill>
                  <a:schemeClr val="tx2"/>
                </a:solidFill>
              </a:rPr>
              <a:t>Proposed increments</a:t>
            </a:r>
            <a:endParaRPr lang="en-US" sz="1800" dirty="0"/>
          </a:p>
        </p:txBody>
      </p:sp>
      <p:sp>
        <p:nvSpPr>
          <p:cNvPr id="8" name="Text 6"/>
          <p:cNvSpPr txBox="1"/>
          <p:nvPr/>
        </p:nvSpPr>
        <p:spPr>
          <a:xfrm>
            <a:off x="6156704" y="4828205"/>
            <a:ext cx="5120640" cy="914400"/>
          </a:xfrm>
          <a:prstGeom prst="rect">
            <a:avLst/>
          </a:prstGeom>
          <a:noFill/>
          <a:ln/>
        </p:spPr>
        <p:txBody>
          <a:bodyPr wrap="square" lIns="0" tIns="0" rIns="0" bIns="0" rtlCol="0" anchor="t"/>
          <a:lstStyle/>
          <a:p>
            <a:r>
              <a:rPr lang="en-IN" sz="1400" b="1" dirty="0"/>
              <a:t>Increment 1:</a:t>
            </a:r>
            <a:r>
              <a:rPr lang="en-IN" sz="1400" dirty="0"/>
              <a:t> Basic text translation.</a:t>
            </a:r>
          </a:p>
          <a:p>
            <a:r>
              <a:rPr lang="en-IN" sz="1400" b="1" dirty="0"/>
              <a:t>Increment 2:</a:t>
            </a:r>
            <a:r>
              <a:rPr lang="en-IN" sz="1400" dirty="0"/>
              <a:t> Voice translation and speech processing.</a:t>
            </a:r>
          </a:p>
          <a:p>
            <a:r>
              <a:rPr lang="en-IN" sz="1400" b="1" dirty="0"/>
              <a:t>Increment 3:</a:t>
            </a:r>
            <a:r>
              <a:rPr lang="en-IN" sz="1400" dirty="0"/>
              <a:t> Bilingual worksheets and flashcards.</a:t>
            </a:r>
          </a:p>
          <a:p>
            <a:r>
              <a:rPr lang="en-IN" sz="1400" b="1" dirty="0"/>
              <a:t>Increment 4:</a:t>
            </a:r>
            <a:r>
              <a:rPr lang="en-IN" sz="1400" dirty="0"/>
              <a:t> Offline access and system integration.</a:t>
            </a:r>
          </a:p>
          <a:p>
            <a:pPr marL="0" indent="0">
              <a:spcAft>
                <a:spcPts val="600"/>
              </a:spcAft>
              <a:buNone/>
            </a:pPr>
            <a:endParaRPr lang="en-US" sz="1400" dirty="0"/>
          </a:p>
        </p:txBody>
      </p:sp>
      <p:graphicFrame>
        <p:nvGraphicFramePr>
          <p:cNvPr id="9" name="Sprint plan table"/>
          <p:cNvGraphicFramePr>
            <a:graphicFrameLocks noGrp="1"/>
          </p:cNvGraphicFramePr>
          <p:nvPr>
            <p:extLst>
              <p:ext uri="{D42A27DB-BD31-4B8C-83A1-F6EECF244321}">
                <p14:modId xmlns:p14="http://schemas.microsoft.com/office/powerpoint/2010/main" val="1992019946"/>
              </p:ext>
            </p:extLst>
          </p:nvPr>
        </p:nvGraphicFramePr>
        <p:xfrm>
          <a:off x="6003985" y="1234440"/>
          <a:ext cx="5426079" cy="2788920"/>
        </p:xfrm>
        <a:graphic>
          <a:graphicData uri="http://schemas.openxmlformats.org/drawingml/2006/table">
            <a:tbl>
              <a:tblPr/>
              <a:tblGrid>
                <a:gridCol w="1081657">
                  <a:extLst>
                    <a:ext uri="{9D8B030D-6E8A-4147-A177-3AD203B41FA5}">
                      <a16:colId xmlns:a16="http://schemas.microsoft.com/office/drawing/2014/main" val="20000"/>
                    </a:ext>
                  </a:extLst>
                </a:gridCol>
                <a:gridCol w="4344422">
                  <a:extLst>
                    <a:ext uri="{9D8B030D-6E8A-4147-A177-3AD203B41FA5}">
                      <a16:colId xmlns:a16="http://schemas.microsoft.com/office/drawing/2014/main" val="20001"/>
                    </a:ext>
                  </a:extLst>
                </a:gridCol>
              </a:tblGrid>
              <a:tr h="411480">
                <a:tc>
                  <a:txBody>
                    <a:bodyPr/>
                    <a:lstStyle/>
                    <a:p>
                      <a:pPr marL="0" indent="0">
                        <a:buNone/>
                      </a:pPr>
                      <a:r>
                        <a:rPr lang="en-US" sz="1400" b="1" dirty="0">
                          <a:solidFill>
                            <a:schemeClr val="bg1"/>
                          </a:solidFill>
                        </a:rPr>
                        <a:t>Sprint</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Proposed focus </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94360">
                <a:tc>
                  <a:txBody>
                    <a:bodyPr/>
                    <a:lstStyle/>
                    <a:p>
                      <a:pPr marL="0" indent="0">
                        <a:buNone/>
                      </a:pPr>
                      <a:r>
                        <a:rPr lang="en-US" sz="1400" b="1" dirty="0">
                          <a:solidFill>
                            <a:schemeClr val="tx2"/>
                          </a:solidFill>
                        </a:rPr>
                        <a:t>Increment 1</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2"/>
                    </a:solidFill>
                  </a:tcPr>
                </a:tc>
                <a:tc>
                  <a:txBody>
                    <a:bodyPr/>
                    <a:lstStyle/>
                    <a:p>
                      <a:pPr marL="0" indent="0">
                        <a:buNone/>
                      </a:pPr>
                      <a:r>
                        <a:rPr lang="en-IN" sz="1400" dirty="0"/>
                        <a:t>Basic text translation</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94360">
                <a:tc>
                  <a:txBody>
                    <a:bodyPr/>
                    <a:lstStyle/>
                    <a:p>
                      <a:pPr marL="0" indent="0">
                        <a:buNone/>
                      </a:pPr>
                      <a:r>
                        <a:rPr lang="en-US" sz="1400" b="1" dirty="0">
                          <a:solidFill>
                            <a:schemeClr val="tx2"/>
                          </a:solidFill>
                        </a:rPr>
                        <a:t>Increment 2</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1"/>
                    </a:solidFill>
                  </a:tcPr>
                </a:tc>
                <a:tc>
                  <a:txBody>
                    <a:bodyPr/>
                    <a:lstStyle/>
                    <a:p>
                      <a:pPr marL="0" indent="0">
                        <a:buNone/>
                      </a:pPr>
                      <a:r>
                        <a:rPr lang="en-IN" sz="1400" dirty="0"/>
                        <a:t>Voice translation</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94360">
                <a:tc>
                  <a:txBody>
                    <a:bodyPr/>
                    <a:lstStyle/>
                    <a:p>
                      <a:pPr marL="0" indent="0">
                        <a:buNone/>
                      </a:pPr>
                      <a:r>
                        <a:rPr lang="en-US" sz="1400" b="1" dirty="0">
                          <a:solidFill>
                            <a:schemeClr val="tx2"/>
                          </a:solidFill>
                        </a:rPr>
                        <a:t>Increment 3</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2"/>
                    </a:solidFill>
                  </a:tcPr>
                </a:tc>
                <a:tc>
                  <a:txBody>
                    <a:bodyPr/>
                    <a:lstStyle/>
                    <a:p>
                      <a:pPr marL="0" indent="0">
                        <a:buNone/>
                      </a:pPr>
                      <a:r>
                        <a:rPr lang="en-IN" sz="1400" dirty="0"/>
                        <a:t>Worksheets and flashcards</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94360">
                <a:tc>
                  <a:txBody>
                    <a:bodyPr/>
                    <a:lstStyle/>
                    <a:p>
                      <a:pPr marL="0" indent="0">
                        <a:buNone/>
                      </a:pPr>
                      <a:r>
                        <a:rPr lang="en-US" sz="1400" b="1" dirty="0">
                          <a:solidFill>
                            <a:schemeClr val="tx2"/>
                          </a:solidFill>
                        </a:rPr>
                        <a:t>Increment 4</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1"/>
                    </a:solidFill>
                  </a:tcPr>
                </a:tc>
                <a:tc>
                  <a:txBody>
                    <a:bodyPr/>
                    <a:lstStyle/>
                    <a:p>
                      <a:pPr>
                        <a:buNone/>
                      </a:pPr>
                      <a:r>
                        <a:rPr lang="en-IN" sz="1400" dirty="0"/>
                        <a:t>Offline access and integration</a:t>
                      </a:r>
                    </a:p>
                  </a:txBody>
                  <a:tcPr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881360" cy="731520"/>
          </a:xfrm>
          <a:prstGeom prst="rect">
            <a:avLst/>
          </a:prstGeom>
          <a:noFill/>
          <a:ln/>
        </p:spPr>
        <p:txBody>
          <a:bodyPr wrap="square" lIns="0" tIns="0" rIns="0" bIns="0" rtlCol="0" anchor="ctr"/>
          <a:lstStyle/>
          <a:p>
            <a:pPr marL="0" indent="0" algn="l">
              <a:buNone/>
            </a:pPr>
            <a:r>
              <a:rPr lang="en-US" sz="3000" b="1" dirty="0">
                <a:solidFill>
                  <a:schemeClr val="tx2"/>
                </a:solidFill>
              </a:rPr>
              <a:t>Ethics, Security and User-Centred Design</a:t>
            </a:r>
            <a:endParaRPr lang="en-US" sz="3000" dirty="0"/>
          </a:p>
        </p:txBody>
      </p:sp>
      <p:graphicFrame>
        <p:nvGraphicFramePr>
          <p:cNvPr id="9" name="Ethics table"/>
          <p:cNvGraphicFramePr>
            <a:graphicFrameLocks noGrp="1"/>
          </p:cNvGraphicFramePr>
          <p:nvPr>
            <p:extLst>
              <p:ext uri="{D42A27DB-BD31-4B8C-83A1-F6EECF244321}">
                <p14:modId xmlns:p14="http://schemas.microsoft.com/office/powerpoint/2010/main" val="1579011935"/>
              </p:ext>
            </p:extLst>
          </p:nvPr>
        </p:nvGraphicFramePr>
        <p:xfrm>
          <a:off x="640080" y="1234440"/>
          <a:ext cx="10908792" cy="3108960"/>
        </p:xfrm>
        <a:graphic>
          <a:graphicData uri="http://schemas.openxmlformats.org/drawingml/2006/table">
            <a:tbl>
              <a:tblPr/>
              <a:tblGrid>
                <a:gridCol w="24688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5422392">
                  <a:extLst>
                    <a:ext uri="{9D8B030D-6E8A-4147-A177-3AD203B41FA5}">
                      <a16:colId xmlns:a16="http://schemas.microsoft.com/office/drawing/2014/main" val="20002"/>
                    </a:ext>
                  </a:extLst>
                </a:gridCol>
              </a:tblGrid>
              <a:tr h="365760">
                <a:tc>
                  <a:txBody>
                    <a:bodyPr/>
                    <a:lstStyle/>
                    <a:p>
                      <a:pPr marL="0" indent="0">
                        <a:buNone/>
                      </a:pPr>
                      <a:r>
                        <a:rPr lang="en-US" sz="1400" b="1" dirty="0">
                          <a:solidFill>
                            <a:schemeClr val="bg1"/>
                          </a:solidFill>
                        </a:rPr>
                        <a:t>Concern</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Risk</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Proposed mitigation</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48640">
                <a:tc>
                  <a:txBody>
                    <a:bodyPr/>
                    <a:lstStyle/>
                    <a:p>
                      <a:pPr marL="0" indent="0">
                        <a:buNone/>
                      </a:pPr>
                      <a:r>
                        <a:rPr lang="en-US" sz="1400" b="1" dirty="0">
                          <a:solidFill>
                            <a:schemeClr val="tx2"/>
                          </a:solidFill>
                        </a:rPr>
                        <a:t>Children's personal data</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Exposure of identifiable data</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Minimise data, encrypt storage, guardian consent, review against DPDP Act 2023</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48640">
                <a:tc>
                  <a:txBody>
                    <a:bodyPr/>
                    <a:lstStyle/>
                    <a:p>
                      <a:pPr marL="0" indent="0">
                        <a:buNone/>
                      </a:pPr>
                      <a:r>
                        <a:rPr lang="en-US" sz="1400" b="1" dirty="0">
                          <a:solidFill>
                            <a:schemeClr val="tx2"/>
                          </a:solidFill>
                        </a:rPr>
                        <a:t>Voice recordings</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Recordings may identify children</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Process on device where possible; store only with consent; delete when no longer needed</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48640">
                <a:tc>
                  <a:txBody>
                    <a:bodyPr/>
                    <a:lstStyle/>
                    <a:p>
                      <a:pPr marL="0" indent="0">
                        <a:buNone/>
                      </a:pPr>
                      <a:r>
                        <a:rPr lang="en-US" sz="1400" b="1" dirty="0">
                          <a:solidFill>
                            <a:schemeClr val="tx2"/>
                          </a:solidFill>
                        </a:rPr>
                        <a:t>Bias and dialect representation</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Standard form may exclude dialects</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Document supported varieties; native-speaker review; extend with the community</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48640">
                <a:tc>
                  <a:txBody>
                    <a:bodyPr/>
                    <a:lstStyle/>
                    <a:p>
                      <a:pPr marL="0" indent="0">
                        <a:buNone/>
                      </a:pPr>
                      <a:r>
                        <a:rPr lang="en-US" sz="1400" b="1" dirty="0">
                          <a:solidFill>
                            <a:schemeClr val="tx2"/>
                          </a:solidFill>
                        </a:rPr>
                        <a:t>Cultural sensitivity</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Literal translation may misrepresent culture</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Cultural review; co-design with community language experts</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48640">
                <a:tc>
                  <a:txBody>
                    <a:bodyPr/>
                    <a:lstStyle/>
                    <a:p>
                      <a:pPr marL="0" indent="0">
                        <a:buNone/>
                      </a:pPr>
                      <a:r>
                        <a:rPr lang="en-US" sz="1400" b="1" dirty="0">
                          <a:solidFill>
                            <a:schemeClr val="tx2"/>
                          </a:solidFill>
                        </a:rPr>
                        <a:t>Low-connectivity access</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Cloud-only features would fail</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Offline-first design; synchronise when connectivity is available</a:t>
                      </a:r>
                      <a:endParaRPr lang="en-US" sz="1400" dirty="0"/>
                    </a:p>
                  </a:txBody>
                  <a:tcPr marT="36576" marB="36576"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640080" y="4572000"/>
            <a:ext cx="8229600" cy="320040"/>
          </a:xfrm>
          <a:prstGeom prst="rect">
            <a:avLst/>
          </a:prstGeom>
          <a:noFill/>
          <a:ln/>
        </p:spPr>
        <p:txBody>
          <a:bodyPr wrap="square" lIns="0" tIns="0" rIns="0" bIns="0" rtlCol="0" anchor="ctr"/>
          <a:lstStyle/>
          <a:p>
            <a:pPr marL="0" indent="0">
              <a:buNone/>
            </a:pPr>
            <a:r>
              <a:rPr lang="en-US" sz="1800" b="1" dirty="0">
                <a:solidFill>
                  <a:schemeClr val="tx2"/>
                </a:solidFill>
              </a:rPr>
              <a:t>Design thinking and user feedback (proposed)</a:t>
            </a:r>
            <a:endParaRPr lang="en-US" sz="1800" dirty="0"/>
          </a:p>
        </p:txBody>
      </p:sp>
      <p:sp>
        <p:nvSpPr>
          <p:cNvPr id="5" name="Design thinking Empathise"/>
          <p:cNvSpPr/>
          <p:nvPr/>
        </p:nvSpPr>
        <p:spPr>
          <a:xfrm>
            <a:off x="640080" y="4983480"/>
            <a:ext cx="2103120" cy="1188720"/>
          </a:xfrm>
          <a:prstGeom prst="roundRect">
            <a:avLst>
              <a:gd name="adj" fmla="val 7692"/>
            </a:avLst>
          </a:prstGeom>
          <a:solidFill>
            <a:schemeClr val="accent1"/>
          </a:solidFill>
          <a:ln w="12700">
            <a:solidFill>
              <a:schemeClr val="accent1"/>
            </a:solidFill>
            <a:prstDash val="solid"/>
          </a:ln>
        </p:spPr>
      </p:sp>
      <p:sp>
        <p:nvSpPr>
          <p:cNvPr id="6" name="Text 3"/>
          <p:cNvSpPr txBox="1"/>
          <p:nvPr/>
        </p:nvSpPr>
        <p:spPr>
          <a:xfrm>
            <a:off x="749808" y="4983480"/>
            <a:ext cx="1883664" cy="1188720"/>
          </a:xfrm>
          <a:prstGeom prst="rect">
            <a:avLst/>
          </a:prstGeom>
          <a:noFill/>
          <a:ln/>
        </p:spPr>
        <p:txBody>
          <a:bodyPr wrap="square" lIns="0" tIns="0" rIns="0" bIns="0" rtlCol="0" anchor="ctr"/>
          <a:lstStyle/>
          <a:p>
            <a:pPr marL="0" indent="0">
              <a:buNone/>
            </a:pPr>
            <a:r>
              <a:rPr lang="en-US" sz="1400" b="1" dirty="0">
                <a:solidFill>
                  <a:schemeClr val="accent2"/>
                </a:solidFill>
              </a:rPr>
              <a:t>Empathise</a:t>
            </a:r>
            <a:endParaRPr lang="en-US" sz="1400" dirty="0"/>
          </a:p>
          <a:p>
            <a:pPr marL="0" indent="0">
              <a:buNone/>
            </a:pPr>
            <a:r>
              <a:rPr lang="en-US" sz="1200" dirty="0">
                <a:solidFill>
                  <a:schemeClr val="bg1"/>
                </a:solidFill>
              </a:rPr>
              <a:t>Teacher and student interviews</a:t>
            </a:r>
            <a:endParaRPr lang="en-US" sz="1400" dirty="0"/>
          </a:p>
        </p:txBody>
      </p:sp>
      <p:sp>
        <p:nvSpPr>
          <p:cNvPr id="7" name="DT arrow 1"/>
          <p:cNvSpPr/>
          <p:nvPr/>
        </p:nvSpPr>
        <p:spPr>
          <a:xfrm>
            <a:off x="2752344" y="5458968"/>
            <a:ext cx="73152" cy="228600"/>
          </a:xfrm>
          <a:prstGeom prst="rightArrow">
            <a:avLst/>
          </a:prstGeom>
          <a:solidFill>
            <a:schemeClr val="accent2"/>
          </a:solidFill>
          <a:ln w="12700">
            <a:solidFill>
              <a:schemeClr val="accent2"/>
            </a:solidFill>
            <a:prstDash val="solid"/>
          </a:ln>
        </p:spPr>
      </p:sp>
      <p:sp>
        <p:nvSpPr>
          <p:cNvPr id="8" name="Design thinking Define"/>
          <p:cNvSpPr/>
          <p:nvPr/>
        </p:nvSpPr>
        <p:spPr>
          <a:xfrm>
            <a:off x="2834640" y="4983480"/>
            <a:ext cx="2103120" cy="1188720"/>
          </a:xfrm>
          <a:prstGeom prst="roundRect">
            <a:avLst>
              <a:gd name="adj" fmla="val 7692"/>
            </a:avLst>
          </a:prstGeom>
          <a:solidFill>
            <a:schemeClr val="accent1"/>
          </a:solidFill>
          <a:ln w="12700">
            <a:solidFill>
              <a:schemeClr val="accent1"/>
            </a:solidFill>
            <a:prstDash val="solid"/>
          </a:ln>
        </p:spPr>
      </p:sp>
      <p:sp>
        <p:nvSpPr>
          <p:cNvPr id="3" name="Text 6"/>
          <p:cNvSpPr txBox="1"/>
          <p:nvPr/>
        </p:nvSpPr>
        <p:spPr>
          <a:xfrm>
            <a:off x="2944368" y="4983480"/>
            <a:ext cx="1883664" cy="1188720"/>
          </a:xfrm>
          <a:prstGeom prst="rect">
            <a:avLst/>
          </a:prstGeom>
          <a:noFill/>
          <a:ln/>
        </p:spPr>
        <p:txBody>
          <a:bodyPr wrap="square" lIns="0" tIns="0" rIns="0" bIns="0" rtlCol="0" anchor="ctr"/>
          <a:lstStyle/>
          <a:p>
            <a:pPr marL="0" indent="0">
              <a:buNone/>
            </a:pPr>
            <a:r>
              <a:rPr lang="en-US" sz="1400" b="1" dirty="0">
                <a:solidFill>
                  <a:schemeClr val="accent2"/>
                </a:solidFill>
              </a:rPr>
              <a:t>Define</a:t>
            </a:r>
            <a:endParaRPr lang="en-US" sz="1400" dirty="0"/>
          </a:p>
          <a:p>
            <a:pPr marL="0" indent="0">
              <a:buNone/>
            </a:pPr>
            <a:r>
              <a:rPr lang="en-US" sz="1200" dirty="0">
                <a:solidFill>
                  <a:schemeClr val="bg1"/>
                </a:solidFill>
              </a:rPr>
              <a:t>State user needs and problems</a:t>
            </a:r>
            <a:endParaRPr lang="en-US" sz="1400" dirty="0"/>
          </a:p>
        </p:txBody>
      </p:sp>
      <p:sp>
        <p:nvSpPr>
          <p:cNvPr id="10" name="DT arrow 2"/>
          <p:cNvSpPr/>
          <p:nvPr/>
        </p:nvSpPr>
        <p:spPr>
          <a:xfrm>
            <a:off x="4946904" y="5458968"/>
            <a:ext cx="73152" cy="228600"/>
          </a:xfrm>
          <a:prstGeom prst="rightArrow">
            <a:avLst/>
          </a:prstGeom>
          <a:solidFill>
            <a:schemeClr val="accent2"/>
          </a:solidFill>
          <a:ln w="12700">
            <a:solidFill>
              <a:schemeClr val="accent2"/>
            </a:solidFill>
            <a:prstDash val="solid"/>
          </a:ln>
        </p:spPr>
      </p:sp>
      <p:sp>
        <p:nvSpPr>
          <p:cNvPr id="11" name="Design thinking Ideate"/>
          <p:cNvSpPr/>
          <p:nvPr/>
        </p:nvSpPr>
        <p:spPr>
          <a:xfrm>
            <a:off x="5029200" y="4983480"/>
            <a:ext cx="2103120" cy="1188720"/>
          </a:xfrm>
          <a:prstGeom prst="roundRect">
            <a:avLst>
              <a:gd name="adj" fmla="val 7692"/>
            </a:avLst>
          </a:prstGeom>
          <a:solidFill>
            <a:schemeClr val="accent1"/>
          </a:solidFill>
          <a:ln w="12700">
            <a:solidFill>
              <a:schemeClr val="accent1"/>
            </a:solidFill>
            <a:prstDash val="solid"/>
          </a:ln>
        </p:spPr>
      </p:sp>
      <p:sp>
        <p:nvSpPr>
          <p:cNvPr id="12" name="Text 9"/>
          <p:cNvSpPr txBox="1"/>
          <p:nvPr/>
        </p:nvSpPr>
        <p:spPr>
          <a:xfrm>
            <a:off x="5138928" y="4983480"/>
            <a:ext cx="1883664" cy="1188720"/>
          </a:xfrm>
          <a:prstGeom prst="rect">
            <a:avLst/>
          </a:prstGeom>
          <a:noFill/>
          <a:ln/>
        </p:spPr>
        <p:txBody>
          <a:bodyPr wrap="square" lIns="0" tIns="0" rIns="0" bIns="0" rtlCol="0" anchor="ctr"/>
          <a:lstStyle/>
          <a:p>
            <a:pPr marL="0" indent="0">
              <a:buNone/>
            </a:pPr>
            <a:r>
              <a:rPr lang="en-US" sz="1400" b="1" dirty="0">
                <a:solidFill>
                  <a:schemeClr val="accent2"/>
                </a:solidFill>
              </a:rPr>
              <a:t>Ideate</a:t>
            </a:r>
            <a:endParaRPr lang="en-US" sz="1400" dirty="0"/>
          </a:p>
          <a:p>
            <a:pPr marL="0" indent="0">
              <a:buNone/>
            </a:pPr>
            <a:r>
              <a:rPr lang="en-US" sz="1200" dirty="0">
                <a:solidFill>
                  <a:schemeClr val="bg1"/>
                </a:solidFill>
              </a:rPr>
              <a:t>Explore interface and workflow options</a:t>
            </a:r>
            <a:endParaRPr lang="en-US" sz="1400" dirty="0"/>
          </a:p>
        </p:txBody>
      </p:sp>
      <p:sp>
        <p:nvSpPr>
          <p:cNvPr id="13" name="DT arrow 3"/>
          <p:cNvSpPr/>
          <p:nvPr/>
        </p:nvSpPr>
        <p:spPr>
          <a:xfrm>
            <a:off x="7141464" y="5458968"/>
            <a:ext cx="73152" cy="228600"/>
          </a:xfrm>
          <a:prstGeom prst="rightArrow">
            <a:avLst/>
          </a:prstGeom>
          <a:solidFill>
            <a:schemeClr val="accent2"/>
          </a:solidFill>
          <a:ln w="12700">
            <a:solidFill>
              <a:schemeClr val="accent2"/>
            </a:solidFill>
            <a:prstDash val="solid"/>
          </a:ln>
        </p:spPr>
      </p:sp>
      <p:sp>
        <p:nvSpPr>
          <p:cNvPr id="14" name="Design thinking Prototype"/>
          <p:cNvSpPr/>
          <p:nvPr/>
        </p:nvSpPr>
        <p:spPr>
          <a:xfrm>
            <a:off x="7223760" y="4983480"/>
            <a:ext cx="2103120" cy="1188720"/>
          </a:xfrm>
          <a:prstGeom prst="roundRect">
            <a:avLst>
              <a:gd name="adj" fmla="val 7692"/>
            </a:avLst>
          </a:prstGeom>
          <a:solidFill>
            <a:schemeClr val="accent1"/>
          </a:solidFill>
          <a:ln w="12700">
            <a:solidFill>
              <a:schemeClr val="accent1"/>
            </a:solidFill>
            <a:prstDash val="solid"/>
          </a:ln>
        </p:spPr>
      </p:sp>
      <p:sp>
        <p:nvSpPr>
          <p:cNvPr id="15" name="Text 12"/>
          <p:cNvSpPr txBox="1"/>
          <p:nvPr/>
        </p:nvSpPr>
        <p:spPr>
          <a:xfrm>
            <a:off x="7333488" y="4983480"/>
            <a:ext cx="1883664" cy="1188720"/>
          </a:xfrm>
          <a:prstGeom prst="rect">
            <a:avLst/>
          </a:prstGeom>
          <a:noFill/>
          <a:ln/>
        </p:spPr>
        <p:txBody>
          <a:bodyPr wrap="square" lIns="0" tIns="0" rIns="0" bIns="0" rtlCol="0" anchor="ctr"/>
          <a:lstStyle/>
          <a:p>
            <a:pPr marL="0" indent="0">
              <a:buNone/>
            </a:pPr>
            <a:r>
              <a:rPr lang="en-US" sz="1400" b="1" dirty="0">
                <a:solidFill>
                  <a:schemeClr val="accent2"/>
                </a:solidFill>
              </a:rPr>
              <a:t>Prototype</a:t>
            </a:r>
            <a:endParaRPr lang="en-US" sz="1400" dirty="0"/>
          </a:p>
          <a:p>
            <a:pPr marL="0" indent="0">
              <a:buNone/>
            </a:pPr>
            <a:r>
              <a:rPr lang="en-US" sz="1200" dirty="0">
                <a:solidFill>
                  <a:schemeClr val="bg1"/>
                </a:solidFill>
              </a:rPr>
              <a:t>Build mock-ups to test ideas</a:t>
            </a:r>
            <a:endParaRPr lang="en-US" sz="1400" dirty="0"/>
          </a:p>
        </p:txBody>
      </p:sp>
      <p:sp>
        <p:nvSpPr>
          <p:cNvPr id="16" name="DT arrow 4"/>
          <p:cNvSpPr/>
          <p:nvPr/>
        </p:nvSpPr>
        <p:spPr>
          <a:xfrm>
            <a:off x="9336024" y="5458968"/>
            <a:ext cx="73152" cy="228600"/>
          </a:xfrm>
          <a:prstGeom prst="rightArrow">
            <a:avLst/>
          </a:prstGeom>
          <a:solidFill>
            <a:schemeClr val="accent2"/>
          </a:solidFill>
          <a:ln w="12700">
            <a:solidFill>
              <a:schemeClr val="accent2"/>
            </a:solidFill>
            <a:prstDash val="solid"/>
          </a:ln>
        </p:spPr>
      </p:sp>
      <p:sp>
        <p:nvSpPr>
          <p:cNvPr id="17" name="Design thinking Test"/>
          <p:cNvSpPr/>
          <p:nvPr/>
        </p:nvSpPr>
        <p:spPr>
          <a:xfrm>
            <a:off x="9418320" y="4983480"/>
            <a:ext cx="2103120" cy="1188720"/>
          </a:xfrm>
          <a:prstGeom prst="roundRect">
            <a:avLst>
              <a:gd name="adj" fmla="val 7692"/>
            </a:avLst>
          </a:prstGeom>
          <a:solidFill>
            <a:schemeClr val="accent1"/>
          </a:solidFill>
          <a:ln w="12700">
            <a:solidFill>
              <a:schemeClr val="accent1"/>
            </a:solidFill>
            <a:prstDash val="solid"/>
          </a:ln>
        </p:spPr>
      </p:sp>
      <p:sp>
        <p:nvSpPr>
          <p:cNvPr id="18" name="Text 15"/>
          <p:cNvSpPr txBox="1"/>
          <p:nvPr/>
        </p:nvSpPr>
        <p:spPr>
          <a:xfrm>
            <a:off x="9528048" y="4983480"/>
            <a:ext cx="1883664" cy="1188720"/>
          </a:xfrm>
          <a:prstGeom prst="rect">
            <a:avLst/>
          </a:prstGeom>
          <a:noFill/>
          <a:ln/>
        </p:spPr>
        <p:txBody>
          <a:bodyPr wrap="square" lIns="0" tIns="0" rIns="0" bIns="0" rtlCol="0" anchor="ctr"/>
          <a:lstStyle/>
          <a:p>
            <a:pPr marL="0" indent="0">
              <a:buNone/>
            </a:pPr>
            <a:r>
              <a:rPr lang="en-US" sz="1400" b="1" dirty="0">
                <a:solidFill>
                  <a:schemeClr val="accent2"/>
                </a:solidFill>
              </a:rPr>
              <a:t>Test</a:t>
            </a:r>
            <a:endParaRPr lang="en-US" sz="1400" dirty="0"/>
          </a:p>
          <a:p>
            <a:pPr marL="0" indent="0">
              <a:buNone/>
            </a:pPr>
            <a:r>
              <a:rPr lang="en-US" sz="1200" dirty="0">
                <a:solidFill>
                  <a:schemeClr val="bg1"/>
                </a:solidFill>
              </a:rPr>
              <a:t>Teacher feedback at each increment review</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881360" cy="731520"/>
          </a:xfrm>
          <a:prstGeom prst="rect">
            <a:avLst/>
          </a:prstGeom>
          <a:noFill/>
          <a:ln/>
        </p:spPr>
        <p:txBody>
          <a:bodyPr wrap="square" lIns="0" tIns="0" rIns="0" bIns="0" rtlCol="0" anchor="ctr"/>
          <a:lstStyle/>
          <a:p>
            <a:pPr marL="0" indent="0" algn="l">
              <a:buNone/>
            </a:pPr>
            <a:r>
              <a:rPr lang="en-US" sz="3000" b="1" dirty="0">
                <a:solidFill>
                  <a:schemeClr val="tx2"/>
                </a:solidFill>
              </a:rPr>
              <a:t>Conclusion and References</a:t>
            </a:r>
            <a:endParaRPr lang="en-US" sz="3000" dirty="0"/>
          </a:p>
        </p:txBody>
      </p:sp>
      <p:sp>
        <p:nvSpPr>
          <p:cNvPr id="3" name="Summary card"/>
          <p:cNvSpPr/>
          <p:nvPr/>
        </p:nvSpPr>
        <p:spPr>
          <a:xfrm>
            <a:off x="640080" y="1234440"/>
            <a:ext cx="10683240" cy="4937760"/>
          </a:xfrm>
          <a:prstGeom prst="roundRect">
            <a:avLst>
              <a:gd name="adj" fmla="val 2985"/>
            </a:avLst>
          </a:prstGeom>
          <a:solidFill>
            <a:schemeClr val="bg2"/>
          </a:solidFill>
          <a:ln w="12700">
            <a:solidFill>
              <a:schemeClr val="bg2"/>
            </a:solidFill>
            <a:prstDash val="solid"/>
          </a:ln>
        </p:spPr>
      </p:sp>
      <p:sp>
        <p:nvSpPr>
          <p:cNvPr id="4" name="Text 2"/>
          <p:cNvSpPr txBox="1"/>
          <p:nvPr/>
        </p:nvSpPr>
        <p:spPr>
          <a:xfrm>
            <a:off x="868680" y="1325880"/>
            <a:ext cx="5486400" cy="365760"/>
          </a:xfrm>
          <a:prstGeom prst="rect">
            <a:avLst/>
          </a:prstGeom>
          <a:noFill/>
          <a:ln/>
        </p:spPr>
        <p:txBody>
          <a:bodyPr wrap="square" lIns="0" tIns="0" rIns="0" bIns="0" rtlCol="0" anchor="ctr"/>
          <a:lstStyle/>
          <a:p>
            <a:pPr marL="0" indent="0">
              <a:buNone/>
            </a:pPr>
            <a:endParaRPr lang="en-US" sz="1800" dirty="0"/>
          </a:p>
        </p:txBody>
      </p:sp>
      <p:sp>
        <p:nvSpPr>
          <p:cNvPr id="5" name="Text 3"/>
          <p:cNvSpPr txBox="1"/>
          <p:nvPr/>
        </p:nvSpPr>
        <p:spPr>
          <a:xfrm>
            <a:off x="868679" y="1737360"/>
            <a:ext cx="9508897" cy="2514600"/>
          </a:xfrm>
          <a:prstGeom prst="rect">
            <a:avLst/>
          </a:prstGeom>
          <a:noFill/>
          <a:ln/>
        </p:spPr>
        <p:txBody>
          <a:bodyPr wrap="square" lIns="0" tIns="0" rIns="0" bIns="0" rtlCol="0" anchor="t"/>
          <a:lstStyle/>
          <a:p>
            <a:pPr marL="0" indent="0">
              <a:spcAft>
                <a:spcPts val="600"/>
              </a:spcAft>
              <a:buNone/>
            </a:pPr>
            <a:r>
              <a:rPr lang="en-US" sz="2400" b="1" dirty="0">
                <a:solidFill>
                  <a:schemeClr val="tx2"/>
                </a:solidFill>
              </a:rPr>
              <a:t>Problem: </a:t>
            </a:r>
            <a:r>
              <a:rPr lang="en-US" sz="2400" dirty="0">
                <a:solidFill>
                  <a:schemeClr val="tx1"/>
                </a:solidFill>
              </a:rPr>
              <a:t>language barrier for children whose mother tongue is Ho, Mundari or Santhali</a:t>
            </a:r>
            <a:endParaRPr lang="en-US" sz="2400" dirty="0"/>
          </a:p>
          <a:p>
            <a:pPr marL="0" indent="0">
              <a:spcAft>
                <a:spcPts val="600"/>
              </a:spcAft>
              <a:buNone/>
            </a:pPr>
            <a:r>
              <a:rPr lang="en-US" sz="2400" b="1" dirty="0">
                <a:solidFill>
                  <a:schemeClr val="tx2"/>
                </a:solidFill>
              </a:rPr>
              <a:t>Proposed system: </a:t>
            </a:r>
            <a:r>
              <a:rPr lang="en-US" sz="2400" dirty="0">
                <a:solidFill>
                  <a:schemeClr val="tx1"/>
                </a:solidFill>
              </a:rPr>
              <a:t>offline-first assistant for translation, voice support and bilingual materials</a:t>
            </a:r>
            <a:endParaRPr lang="en-US" sz="2400" dirty="0"/>
          </a:p>
          <a:p>
            <a:pPr marL="0" indent="0">
              <a:spcAft>
                <a:spcPts val="600"/>
              </a:spcAft>
              <a:buNone/>
            </a:pPr>
            <a:r>
              <a:rPr lang="en-US" sz="2400" b="1" dirty="0">
                <a:solidFill>
                  <a:schemeClr val="tx2"/>
                </a:solidFill>
              </a:rPr>
              <a:t>SDLC approach: </a:t>
            </a:r>
            <a:r>
              <a:rPr lang="en-US" sz="2400" dirty="0">
                <a:solidFill>
                  <a:schemeClr val="tx1"/>
                </a:solidFill>
              </a:rPr>
              <a:t>iterative Agile within the seven SDLC stages</a:t>
            </a:r>
            <a:endParaRPr lang="en-US" sz="2400" dirty="0"/>
          </a:p>
          <a:p>
            <a:pPr marL="0" indent="0">
              <a:spcAft>
                <a:spcPts val="600"/>
              </a:spcAft>
              <a:buNone/>
            </a:pPr>
            <a:r>
              <a:rPr lang="en-US" sz="2400" b="1" dirty="0">
                <a:solidFill>
                  <a:schemeClr val="tx2"/>
                </a:solidFill>
              </a:rPr>
              <a:t>Agile Scrum: </a:t>
            </a:r>
            <a:r>
              <a:rPr lang="en-US" sz="2400" dirty="0">
                <a:solidFill>
                  <a:schemeClr val="tx1"/>
                </a:solidFill>
              </a:rPr>
              <a:t>four proposed sprints tracked on a Trello board</a:t>
            </a:r>
            <a:endParaRPr lang="en-US" sz="2400" dirty="0"/>
          </a:p>
          <a:p>
            <a:pPr marL="0" indent="0">
              <a:spcAft>
                <a:spcPts val="600"/>
              </a:spcAft>
              <a:buNone/>
            </a:pPr>
            <a:r>
              <a:rPr lang="en-US" sz="2400" b="1" dirty="0">
                <a:solidFill>
                  <a:schemeClr val="tx2"/>
                </a:solidFill>
              </a:rPr>
              <a:t>Also considered: </a:t>
            </a:r>
            <a:r>
              <a:rPr lang="en-US" sz="2400" dirty="0">
                <a:solidFill>
                  <a:schemeClr val="tx1"/>
                </a:solidFill>
              </a:rPr>
              <a:t>feasibility, quality, ethics and risk; nothing implemented or measured</a:t>
            </a:r>
            <a:endParaRPr lang="en-US" sz="2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11</a:t>
            </a:fld>
            <a:endParaRPr lang="en-US"/>
          </a:p>
        </p:txBody>
      </p:sp>
    </p:spTree>
  </p:cSld>
  <p:clrMapOvr>
    <a:masterClrMapping/>
  </p:clrMapOvr>
</p:sld>
</file>

<file path=ppt/theme/theme1.xml><?xml version="1.0" encoding="utf-8"?>
<a:theme xmlns:a="http://schemas.openxmlformats.org/drawingml/2006/main" name="Vernacular Learning">
  <a:themeElements>
    <a:clrScheme name="Vernacular Learning">
      <a:dk1>
        <a:srgbClr val="1B2A2F"/>
      </a:dk1>
      <a:lt1>
        <a:srgbClr val="FFFFFF"/>
      </a:lt1>
      <a:dk2>
        <a:srgbClr val="0F4C5C"/>
      </a:dk2>
      <a:lt2>
        <a:srgbClr val="E8F1F0"/>
      </a:lt2>
      <a:accent1>
        <a:srgbClr val="0F4C5C"/>
      </a:accent1>
      <a:accent2>
        <a:srgbClr val="F29F05"/>
      </a:accent2>
      <a:accent3>
        <a:srgbClr val="2A9D8F"/>
      </a:accent3>
      <a:accent4>
        <a:srgbClr val="C4503A"/>
      </a:accent4>
      <a:accent5>
        <a:srgbClr val="6D597A"/>
      </a:accent5>
      <a:accent6>
        <a:srgbClr val="8AB17D"/>
      </a:accent6>
      <a:hlink>
        <a:srgbClr val="0F4C5C"/>
      </a:hlink>
      <a:folHlink>
        <a:srgbClr val="6D597A"/>
      </a:folHlink>
    </a:clrScheme>
    <a:fontScheme name="Vernacular Learn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115</TotalTime>
  <Words>1846</Words>
  <Application>Microsoft Office PowerPoint</Application>
  <PresentationFormat>Widescreen</PresentationFormat>
  <Paragraphs>222</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Vernacular Learning</vt:lpstr>
      <vt:lpstr>SIH26042 AI-Powered Vernacular Pedagogy and Real-Time Translation Tool for Mother Tongue-Based Primary Education</vt:lpstr>
      <vt:lpstr>Problem Definition and Requirements Analysis</vt:lpstr>
      <vt:lpstr>Objectives and scope </vt:lpstr>
      <vt:lpstr>     Stakeholder requirements </vt:lpstr>
      <vt:lpstr>PowerPoint Presentation</vt:lpstr>
      <vt:lpstr>SDLC and Software Process Model Selection</vt:lpstr>
      <vt:lpstr>Feasibility Study and Risk Analysis</vt:lpstr>
      <vt:lpstr>Proposed System Architecture and Design</vt:lpstr>
      <vt:lpstr>Incremental Model and Development Plan</vt:lpstr>
      <vt:lpstr>Ethics, Security and User-Centred Design</vt:lpstr>
      <vt:lpstr>Conclusion and References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SIH26042 - Software Engineering Unit 1 Case Study</dc:title>
  <dc:subject>PptxGenJS Presentation</dc:subject>
  <dc:creator>PptxGenJS</dc:creator>
  <cp:lastModifiedBy>SWETA R</cp:lastModifiedBy>
  <cp:revision>3</cp:revision>
  <dcterms:created xsi:type="dcterms:W3CDTF">2026-10-09T09:13:32Z</dcterms:created>
  <dcterms:modified xsi:type="dcterms:W3CDTF">2026-10-12T08:45:51Z</dcterms:modified>
</cp:coreProperties>
</file>